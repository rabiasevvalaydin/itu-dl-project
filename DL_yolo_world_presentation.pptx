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62" r:id="rId3"/>
    <p:sldId id="263" r:id="rId4"/>
    <p:sldId id="259" r:id="rId5"/>
    <p:sldId id="267" r:id="rId6"/>
    <p:sldId id="265" r:id="rId7"/>
    <p:sldId id="261" r:id="rId8"/>
    <p:sldId id="268" r:id="rId9"/>
    <p:sldId id="269" r:id="rId10"/>
    <p:sldId id="270" r:id="rId11"/>
    <p:sldId id="271" r:id="rId12"/>
    <p:sldId id="272" r:id="rId13"/>
    <p:sldId id="274" r:id="rId14"/>
    <p:sldId id="275" r:id="rId15"/>
    <p:sldId id="276" r:id="rId16"/>
    <p:sldId id="277" r:id="rId17"/>
    <p:sldId id="260" r:id="rId18"/>
    <p:sldId id="278" r:id="rId19"/>
    <p:sldId id="279" r:id="rId20"/>
    <p:sldId id="285" r:id="rId21"/>
    <p:sldId id="281" r:id="rId22"/>
    <p:sldId id="283" r:id="rId23"/>
    <p:sldId id="284" r:id="rId24"/>
    <p:sldId id="288" r:id="rId25"/>
    <p:sldId id="289" r:id="rId26"/>
    <p:sldId id="290" r:id="rId27"/>
    <p:sldId id="291" r:id="rId28"/>
    <p:sldId id="287" r:id="rId29"/>
    <p:sldId id="292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97" autoAdjust="0"/>
    <p:restoredTop sz="97404" autoAdjust="0"/>
  </p:normalViewPr>
  <p:slideViewPr>
    <p:cSldViewPr snapToGrid="0">
      <p:cViewPr varScale="1">
        <p:scale>
          <a:sx n="160" d="100"/>
          <a:sy n="160" d="100"/>
        </p:scale>
        <p:origin x="7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5D232-C037-452C-BFE9-44E9E13606F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86933-263A-442C-93CF-F51FDA612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6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r-TR" dirty="0" err="1"/>
              <a:t>Paper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/>
              <a:t>Main idea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paper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 err="1"/>
              <a:t>Method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authors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own</a:t>
            </a:r>
            <a:r>
              <a:rPr lang="tr-TR" dirty="0"/>
              <a:t> </a:t>
            </a:r>
            <a:r>
              <a:rPr lang="tr-TR" dirty="0" err="1"/>
              <a:t>contribution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effort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improve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extend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work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 err="1"/>
              <a:t>duration</a:t>
            </a:r>
            <a:r>
              <a:rPr lang="tr-TR" dirty="0"/>
              <a:t>,-&gt; 20 </a:t>
            </a:r>
            <a:r>
              <a:rPr lang="tr-TR" dirty="0" err="1"/>
              <a:t>min</a:t>
            </a:r>
            <a:r>
              <a:rPr lang="tr-TR" dirty="0"/>
              <a:t> </a:t>
            </a:r>
            <a:r>
              <a:rPr lang="tr-TR" dirty="0" err="1"/>
              <a:t>presentation</a:t>
            </a:r>
            <a:r>
              <a:rPr lang="tr-TR" dirty="0"/>
              <a:t>, 2-3m </a:t>
            </a:r>
            <a:r>
              <a:rPr lang="tr-TR" dirty="0" err="1"/>
              <a:t>q&amp;a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/>
              <a:t>Evaluation-&gt; </a:t>
            </a:r>
            <a:r>
              <a:rPr lang="tr-TR" dirty="0" err="1"/>
              <a:t>slides</a:t>
            </a:r>
            <a:r>
              <a:rPr lang="tr-TR" dirty="0"/>
              <a:t>, </a:t>
            </a:r>
            <a:r>
              <a:rPr lang="tr-TR" dirty="0" err="1"/>
              <a:t>presentation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, </a:t>
            </a:r>
            <a:r>
              <a:rPr lang="tr-TR" dirty="0" err="1"/>
              <a:t>content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material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81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core</a:t>
            </a:r>
            <a:r>
              <a:rPr lang="tr-TR" dirty="0"/>
              <a:t> problem </a:t>
            </a:r>
            <a:r>
              <a:rPr lang="tr-TR" dirty="0" err="1"/>
              <a:t>yolo</a:t>
            </a:r>
            <a:r>
              <a:rPr lang="tr-TR" dirty="0"/>
              <a:t> </a:t>
            </a:r>
            <a:r>
              <a:rPr lang="tr-TR" dirty="0" err="1"/>
              <a:t>world</a:t>
            </a:r>
            <a:r>
              <a:rPr lang="tr-TR" dirty="0"/>
              <a:t> </a:t>
            </a:r>
            <a:r>
              <a:rPr lang="tr-TR" dirty="0" err="1"/>
              <a:t>addresses</a:t>
            </a:r>
            <a:r>
              <a:rPr lang="tr-TR" dirty="0"/>
              <a:t> is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yolo</a:t>
            </a:r>
            <a:r>
              <a:rPr lang="tr-TR" dirty="0"/>
              <a:t> can 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en-US" noProof="0" dirty="0"/>
              <a:t>detect objects from predefined categories that they’re trained</a:t>
            </a:r>
            <a:r>
              <a:rPr lang="tr-TR" noProof="0" dirty="0"/>
              <a:t> on </a:t>
            </a:r>
            <a:r>
              <a:rPr lang="tr-TR" noProof="0" dirty="0" err="1"/>
              <a:t>beforehand</a:t>
            </a:r>
            <a:r>
              <a:rPr lang="tr-TR" noProof="0" dirty="0"/>
              <a:t>. Since </a:t>
            </a:r>
            <a:r>
              <a:rPr lang="tr-TR" noProof="0" dirty="0" err="1"/>
              <a:t>this</a:t>
            </a:r>
            <a:r>
              <a:rPr lang="tr-TR" noProof="0" dirty="0"/>
              <a:t> </a:t>
            </a:r>
            <a:r>
              <a:rPr lang="tr-TR" noProof="0" dirty="0" err="1"/>
              <a:t>limits</a:t>
            </a:r>
            <a:r>
              <a:rPr lang="tr-TR" noProof="0" dirty="0"/>
              <a:t> </a:t>
            </a:r>
            <a:r>
              <a:rPr lang="tr-TR" noProof="0" dirty="0" err="1"/>
              <a:t>their</a:t>
            </a:r>
            <a:r>
              <a:rPr lang="tr-TR" noProof="0" dirty="0"/>
              <a:t> </a:t>
            </a:r>
            <a:r>
              <a:rPr lang="tr-TR" noProof="0" dirty="0" err="1"/>
              <a:t>application</a:t>
            </a:r>
            <a:r>
              <a:rPr lang="tr-TR" noProof="0" dirty="0"/>
              <a:t> </a:t>
            </a:r>
            <a:r>
              <a:rPr lang="tr-TR" noProof="0" dirty="0" err="1"/>
              <a:t>range</a:t>
            </a:r>
            <a:r>
              <a:rPr lang="tr-TR" noProof="0" dirty="0"/>
              <a:t> in </a:t>
            </a:r>
            <a:r>
              <a:rPr lang="tr-TR" noProof="0" dirty="0" err="1"/>
              <a:t>real</a:t>
            </a:r>
            <a:r>
              <a:rPr lang="tr-TR" noProof="0" dirty="0"/>
              <a:t> </a:t>
            </a:r>
            <a:r>
              <a:rPr lang="tr-TR" noProof="0" dirty="0" err="1"/>
              <a:t>world</a:t>
            </a:r>
            <a:r>
              <a:rPr lang="tr-TR" noProof="0" dirty="0"/>
              <a:t> </a:t>
            </a:r>
            <a:r>
              <a:rPr lang="tr-TR" noProof="0" dirty="0" err="1"/>
              <a:t>scenarios</a:t>
            </a:r>
            <a:r>
              <a:rPr lang="tr-TR" noProof="0" dirty="0"/>
              <a:t>, </a:t>
            </a:r>
            <a:r>
              <a:rPr lang="tr-TR" noProof="0" dirty="0" err="1"/>
              <a:t>the</a:t>
            </a:r>
            <a:endParaRPr lang="tr-TR" noProof="0" dirty="0"/>
          </a:p>
          <a:p>
            <a:r>
              <a:rPr lang="en-US" noProof="0" dirty="0"/>
              <a:t>Authors aimed to give YOLO ‘open-vocabulary’ capabilities </a:t>
            </a:r>
            <a:r>
              <a:rPr lang="tr-TR" noProof="0" dirty="0" err="1"/>
              <a:t>which</a:t>
            </a:r>
            <a:r>
              <a:rPr lang="tr-TR" noProof="0" dirty="0"/>
              <a:t> </a:t>
            </a:r>
            <a:r>
              <a:rPr lang="tr-TR" noProof="0" dirty="0" err="1"/>
              <a:t>means</a:t>
            </a:r>
            <a:r>
              <a:rPr lang="tr-TR" noProof="0" dirty="0"/>
              <a:t> </a:t>
            </a:r>
            <a:r>
              <a:rPr lang="tr-TR" noProof="0" dirty="0" err="1"/>
              <a:t>the</a:t>
            </a:r>
            <a:r>
              <a:rPr lang="tr-TR" noProof="0" dirty="0"/>
              <a:t> model </a:t>
            </a:r>
            <a:r>
              <a:rPr lang="tr-TR" noProof="0" dirty="0" err="1"/>
              <a:t>would</a:t>
            </a:r>
            <a:r>
              <a:rPr lang="tr-TR" noProof="0" dirty="0"/>
              <a:t> </a:t>
            </a:r>
            <a:r>
              <a:rPr lang="tr-TR" noProof="0" dirty="0" err="1"/>
              <a:t>have</a:t>
            </a:r>
            <a:r>
              <a:rPr lang="tr-TR" noProof="0" dirty="0"/>
              <a:t> </a:t>
            </a:r>
            <a:r>
              <a:rPr lang="tr-TR" noProof="0" dirty="0" err="1"/>
              <a:t>the</a:t>
            </a:r>
            <a:r>
              <a:rPr lang="tr-TR" noProof="0" dirty="0"/>
              <a:t> </a:t>
            </a:r>
            <a:r>
              <a:rPr lang="tr-TR" noProof="0" dirty="0" err="1"/>
              <a:t>ability</a:t>
            </a:r>
            <a:r>
              <a:rPr lang="tr-TR" noProof="0" dirty="0"/>
              <a:t> </a:t>
            </a:r>
            <a:r>
              <a:rPr lang="en-US" noProof="0" dirty="0"/>
              <a:t>to detect any object not just pre-trained categories</a:t>
            </a:r>
            <a:r>
              <a:rPr lang="tr-TR" noProof="0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2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already</a:t>
            </a:r>
            <a:r>
              <a:rPr lang="tr-TR" dirty="0"/>
              <a:t> </a:t>
            </a:r>
            <a:r>
              <a:rPr lang="tr-TR" dirty="0" err="1"/>
              <a:t>object</a:t>
            </a:r>
            <a:r>
              <a:rPr lang="tr-TR" dirty="0"/>
              <a:t> </a:t>
            </a:r>
            <a:r>
              <a:rPr lang="tr-TR" dirty="0" err="1"/>
              <a:t>detectors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Open </a:t>
            </a:r>
            <a:r>
              <a:rPr lang="tr-TR" dirty="0" err="1"/>
              <a:t>Vocabulary</a:t>
            </a:r>
            <a:r>
              <a:rPr lang="tr-TR" dirty="0"/>
              <a:t> </a:t>
            </a:r>
            <a:r>
              <a:rPr lang="tr-TR" dirty="0" err="1"/>
              <a:t>capabilities</a:t>
            </a:r>
            <a:r>
              <a:rPr lang="tr-TR" dirty="0"/>
              <a:t> but </a:t>
            </a:r>
            <a:r>
              <a:rPr lang="tr-TR" dirty="0" err="1"/>
              <a:t>their</a:t>
            </a:r>
            <a:r>
              <a:rPr lang="tr-TR" dirty="0"/>
              <a:t> main problem they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very</a:t>
            </a:r>
            <a:r>
              <a:rPr lang="tr-TR" dirty="0"/>
              <a:t> </a:t>
            </a:r>
            <a:r>
              <a:rPr lang="tr-TR" dirty="0" err="1"/>
              <a:t>slow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hard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deploy</a:t>
            </a:r>
            <a:r>
              <a:rPr lang="tr-TR" dirty="0"/>
              <a:t> on </a:t>
            </a:r>
            <a:r>
              <a:rPr lang="tr-TR" dirty="0" err="1"/>
              <a:t>real</a:t>
            </a:r>
            <a:r>
              <a:rPr lang="tr-TR" dirty="0"/>
              <a:t> time </a:t>
            </a:r>
            <a:r>
              <a:rPr lang="tr-TR" dirty="0" err="1"/>
              <a:t>systems</a:t>
            </a:r>
            <a:r>
              <a:rPr lang="tr-TR" dirty="0"/>
              <a:t> </a:t>
            </a:r>
            <a:r>
              <a:rPr lang="tr-TR" dirty="0" err="1"/>
              <a:t>because</a:t>
            </a:r>
            <a:r>
              <a:rPr lang="tr-TR" dirty="0"/>
              <a:t> </a:t>
            </a:r>
            <a:r>
              <a:rPr lang="tr-TR" dirty="0" err="1"/>
              <a:t>usually</a:t>
            </a:r>
            <a:r>
              <a:rPr lang="tr-TR" dirty="0"/>
              <a:t> they </a:t>
            </a:r>
            <a:r>
              <a:rPr lang="tr-TR" dirty="0" err="1"/>
              <a:t>rely</a:t>
            </a:r>
            <a:r>
              <a:rPr lang="tr-TR" dirty="0"/>
              <a:t> on </a:t>
            </a:r>
            <a:r>
              <a:rPr lang="tr-TR" dirty="0" err="1"/>
              <a:t>large</a:t>
            </a:r>
            <a:r>
              <a:rPr lang="tr-TR" dirty="0"/>
              <a:t> </a:t>
            </a:r>
            <a:r>
              <a:rPr lang="tr-TR" dirty="0" err="1"/>
              <a:t>transformers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perform</a:t>
            </a:r>
            <a:r>
              <a:rPr lang="tr-TR" dirty="0"/>
              <a:t> online text </a:t>
            </a:r>
            <a:r>
              <a:rPr lang="tr-TR" dirty="0" err="1"/>
              <a:t>encoding</a:t>
            </a:r>
            <a:r>
              <a:rPr lang="tr-TR" dirty="0"/>
              <a:t> </a:t>
            </a:r>
            <a:r>
              <a:rPr lang="tr-TR" dirty="0" err="1"/>
              <a:t>during</a:t>
            </a:r>
            <a:r>
              <a:rPr lang="tr-TR" dirty="0"/>
              <a:t> </a:t>
            </a:r>
            <a:r>
              <a:rPr lang="tr-TR" dirty="0" err="1"/>
              <a:t>inference</a:t>
            </a:r>
            <a:r>
              <a:rPr lang="tr-TR" dirty="0"/>
              <a:t>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increases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processing</a:t>
            </a:r>
            <a:r>
              <a:rPr lang="tr-TR" dirty="0"/>
              <a:t> time.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29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answer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question</a:t>
            </a:r>
            <a:r>
              <a:rPr lang="tr-TR" dirty="0"/>
              <a:t> is </a:t>
            </a:r>
            <a:r>
              <a:rPr lang="tr-TR" dirty="0" err="1"/>
              <a:t>yes</a:t>
            </a:r>
            <a:r>
              <a:rPr lang="tr-TR" dirty="0"/>
              <a:t> they </a:t>
            </a:r>
            <a:r>
              <a:rPr lang="tr-TR" dirty="0" err="1"/>
              <a:t>did</a:t>
            </a:r>
            <a:r>
              <a:rPr lang="tr-TR" dirty="0"/>
              <a:t> </a:t>
            </a:r>
            <a:r>
              <a:rPr lang="tr-TR" dirty="0" err="1"/>
              <a:t>achiece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significant</a:t>
            </a:r>
            <a:r>
              <a:rPr lang="tr-TR" dirty="0"/>
              <a:t> </a:t>
            </a:r>
            <a:r>
              <a:rPr lang="tr-TR" dirty="0" err="1"/>
              <a:t>faster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</a:t>
            </a:r>
            <a:r>
              <a:rPr lang="tr-TR" dirty="0" err="1"/>
              <a:t>compared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open-vocabulary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. </a:t>
            </a:r>
            <a:r>
              <a:rPr lang="tr-TR" dirty="0" err="1"/>
              <a:t>Also</a:t>
            </a:r>
            <a:r>
              <a:rPr lang="tr-TR" dirty="0"/>
              <a:t> in </a:t>
            </a:r>
            <a:r>
              <a:rPr lang="tr-TR" dirty="0" err="1"/>
              <a:t>addition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speed</a:t>
            </a:r>
            <a:r>
              <a:rPr lang="tr-TR" dirty="0"/>
              <a:t> they </a:t>
            </a:r>
            <a:r>
              <a:rPr lang="tr-TR" dirty="0" err="1"/>
              <a:t>achieved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smaller</a:t>
            </a:r>
            <a:r>
              <a:rPr lang="tr-TR" dirty="0"/>
              <a:t> </a:t>
            </a:r>
            <a:r>
              <a:rPr lang="tr-TR" dirty="0" err="1"/>
              <a:t>model’s</a:t>
            </a:r>
            <a:r>
              <a:rPr lang="tr-TR" dirty="0"/>
              <a:t> size, </a:t>
            </a:r>
            <a:r>
              <a:rPr lang="tr-TR" dirty="0" err="1"/>
              <a:t>decreasing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computational</a:t>
            </a:r>
            <a:r>
              <a:rPr lang="tr-TR" dirty="0"/>
              <a:t> </a:t>
            </a:r>
            <a:r>
              <a:rPr lang="tr-TR" dirty="0" err="1"/>
              <a:t>load</a:t>
            </a:r>
            <a:r>
              <a:rPr lang="tr-TR" dirty="0"/>
              <a:t>. 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92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regions and words are embedded into the same semantic space, and detection is similarity matching.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53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Detection datasets</a:t>
            </a:r>
          </a:p>
          <a:p>
            <a:r>
              <a:rPr lang="en-US" b="0" dirty="0"/>
              <a:t>Grounding datasets</a:t>
            </a:r>
          </a:p>
          <a:p>
            <a:r>
              <a:rPr lang="en-US" b="0" dirty="0"/>
              <a:t>Image-text datasets</a:t>
            </a:r>
          </a:p>
          <a:p>
            <a:r>
              <a:rPr lang="en-US" b="0" dirty="0"/>
              <a:t>All become region–text pairs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31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 Yer Tutucusu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system has four components: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1.</a:t>
                </a:r>
                <a:r>
                  <a:rPr lang="en-US" b="1" dirty="0"/>
                  <a:t>YOLO Image Backbone</a:t>
                </a:r>
                <a:endParaRPr lang="tr-TR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Standard YOLOv8 CNN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Produces multi-scale features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4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2.</a:t>
                </a:r>
                <a:r>
                  <a:rPr lang="en-US" b="1" dirty="0"/>
                  <a:t>CLIP Text Encoder</a:t>
                </a:r>
                <a:endParaRPr lang="tr-TR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Pretrained CLIP transformer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Converts text prompts → semantic embeddings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Frozen during training (important!)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3.</a:t>
                </a:r>
                <a:r>
                  <a:rPr lang="en-US" b="1" dirty="0" err="1"/>
                  <a:t>RepVL</a:t>
                </a:r>
                <a:r>
                  <a:rPr lang="en-US" b="1" dirty="0"/>
                  <a:t>-PAN (New Contribution)</a:t>
                </a:r>
                <a:endParaRPr lang="tr-TR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Vision–language fusion inside the feature pyramid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4.</a:t>
                </a:r>
                <a:r>
                  <a:rPr lang="en-US" b="1" dirty="0"/>
                  <a:t>Text-Contrastive Detection Head</a:t>
                </a:r>
                <a:endParaRPr lang="tr-TR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Outputs: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bounding boxes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object embeddings (not class logits)</a:t>
                </a:r>
              </a:p>
              <a:p>
                <a:endParaRPr lang="tr-TR" dirty="0"/>
              </a:p>
              <a:p>
                <a:r>
                  <a:rPr lang="en-US" dirty="0"/>
                  <a:t>Input Image ──▶ YOLO Backbone ──▶ Multi-scale Features</a:t>
                </a:r>
              </a:p>
              <a:p>
                <a:r>
                  <a:rPr lang="en-US" dirty="0"/>
                  <a:t>                                    </a:t>
                </a:r>
                <a:r>
                  <a:rPr lang="tr-TR" dirty="0"/>
                  <a:t>			</a:t>
                </a:r>
                <a:r>
                  <a:rPr lang="en-US" dirty="0"/>
                  <a:t>  │</a:t>
                </a:r>
              </a:p>
              <a:p>
                <a:r>
                  <a:rPr lang="en-US" dirty="0"/>
                  <a:t>Input Text  ──▶ CLIP Text Encoder ──▶ Text Embeddings</a:t>
                </a:r>
              </a:p>
              <a:p>
                <a:pPr lvl="6"/>
                <a:r>
                  <a:rPr lang="en-US" dirty="0"/>
                  <a:t>                          │</a:t>
                </a:r>
              </a:p>
              <a:p>
                <a:pPr lvl="6"/>
                <a:r>
                  <a:rPr lang="en-US" dirty="0"/>
                  <a:t>               </a:t>
                </a:r>
                <a:r>
                  <a:rPr lang="en-US" dirty="0" err="1"/>
                  <a:t>RepVL</a:t>
                </a:r>
                <a:r>
                  <a:rPr lang="en-US" dirty="0"/>
                  <a:t>-PAN (fusion)</a:t>
                </a:r>
              </a:p>
              <a:p>
                <a:pPr marL="2743200" marR="0" lvl="6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                          │</a:t>
                </a:r>
                <a:endParaRPr lang="tr-TR" dirty="0"/>
              </a:p>
              <a:p>
                <a:pPr lvl="6"/>
                <a:r>
                  <a:rPr lang="en-US" dirty="0"/>
                  <a:t>        Detection Head (boxes + embeddings)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 Yer Tutucusu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system has four components: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1.</a:t>
                </a:r>
                <a:r>
                  <a:rPr lang="en-US" b="1" dirty="0"/>
                  <a:t>YOLO Image Backbone</a:t>
                </a:r>
                <a:endParaRPr lang="tr-TR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Standard YOLOv8 CNN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Produces multi-scale features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𝐶3,𝐶4,𝐶5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2.</a:t>
                </a:r>
                <a:r>
                  <a:rPr lang="en-US" b="1" dirty="0"/>
                  <a:t>CLIP Text Encoder</a:t>
                </a:r>
                <a:endParaRPr lang="tr-TR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Pretrained CLIP transformer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Converts text prompts → semantic embeddings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Frozen during training (important!)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3.</a:t>
                </a:r>
                <a:r>
                  <a:rPr lang="en-US" b="1" dirty="0" err="1"/>
                  <a:t>RepVL</a:t>
                </a:r>
                <a:r>
                  <a:rPr lang="en-US" b="1" dirty="0"/>
                  <a:t>-PAN (New Contribution)</a:t>
                </a:r>
                <a:endParaRPr lang="tr-TR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Vision–language fusion inside the feature pyramid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tr-TR" b="1" dirty="0"/>
                  <a:t>4.</a:t>
                </a:r>
                <a:r>
                  <a:rPr lang="en-US" b="1" dirty="0"/>
                  <a:t>Text-Contrastive Detection Head</a:t>
                </a:r>
                <a:endParaRPr lang="tr-TR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Outputs: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bounding boxes</a:t>
                </a:r>
                <a:endParaRPr lang="tr-T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object embeddings (not class logits)</a:t>
                </a:r>
              </a:p>
              <a:p>
                <a:endParaRPr lang="tr-TR" dirty="0"/>
              </a:p>
              <a:p>
                <a:r>
                  <a:rPr lang="en-US" dirty="0"/>
                  <a:t>Input Image ──▶ YOLO Backbone ──▶ Multi-scale Features</a:t>
                </a:r>
              </a:p>
              <a:p>
                <a:r>
                  <a:rPr lang="en-US" dirty="0"/>
                  <a:t>                                    </a:t>
                </a:r>
                <a:r>
                  <a:rPr lang="tr-TR" dirty="0"/>
                  <a:t>			</a:t>
                </a:r>
                <a:r>
                  <a:rPr lang="en-US" dirty="0"/>
                  <a:t>  │</a:t>
                </a:r>
              </a:p>
              <a:p>
                <a:r>
                  <a:rPr lang="en-US" dirty="0"/>
                  <a:t>Input Text  ──▶ CLIP Text Encoder ──▶ Text Embeddings</a:t>
                </a:r>
              </a:p>
              <a:p>
                <a:pPr lvl="6"/>
                <a:r>
                  <a:rPr lang="en-US" dirty="0"/>
                  <a:t>                          │</a:t>
                </a:r>
              </a:p>
              <a:p>
                <a:pPr lvl="6"/>
                <a:r>
                  <a:rPr lang="en-US" dirty="0"/>
                  <a:t>               </a:t>
                </a:r>
                <a:r>
                  <a:rPr lang="en-US" dirty="0" err="1"/>
                  <a:t>RepVL</a:t>
                </a:r>
                <a:r>
                  <a:rPr lang="en-US" dirty="0"/>
                  <a:t>-PAN (fusion)</a:t>
                </a:r>
              </a:p>
              <a:p>
                <a:pPr marL="2743200" marR="0" lvl="6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                          │</a:t>
                </a:r>
                <a:endParaRPr lang="tr-TR" dirty="0"/>
              </a:p>
              <a:p>
                <a:pPr lvl="6"/>
                <a:r>
                  <a:rPr lang="en-US" dirty="0"/>
                  <a:t>        Detection Head (boxes + embeddings)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8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tr-TR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YOLO-World extends PAN into a vision-language PAN.</a:t>
            </a:r>
          </a:p>
          <a:p>
            <a:endParaRPr lang="tr-TR" dirty="0"/>
          </a:p>
          <a:p>
            <a:r>
              <a:rPr lang="tr-TR" dirty="0"/>
              <a:t>At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:</a:t>
            </a:r>
          </a:p>
          <a:p>
            <a:pPr marL="171450" indent="-171450">
              <a:buFontTx/>
              <a:buChar char="-"/>
            </a:pPr>
            <a:r>
              <a:rPr lang="tr-TR" dirty="0"/>
              <a:t>Image </a:t>
            </a:r>
            <a:r>
              <a:rPr lang="tr-TR" dirty="0" err="1"/>
              <a:t>features</a:t>
            </a:r>
            <a:r>
              <a:rPr lang="tr-TR" dirty="0"/>
              <a:t>: </a:t>
            </a:r>
            <a:r>
              <a:rPr lang="tr-TR" dirty="0" err="1"/>
              <a:t>spatial</a:t>
            </a:r>
            <a:r>
              <a:rPr lang="tr-TR" dirty="0"/>
              <a:t> + </a:t>
            </a:r>
            <a:r>
              <a:rPr lang="tr-TR" dirty="0" err="1"/>
              <a:t>visual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/>
              <a:t>Text </a:t>
            </a:r>
            <a:r>
              <a:rPr lang="tr-TR" dirty="0" err="1"/>
              <a:t>features</a:t>
            </a:r>
            <a:r>
              <a:rPr lang="tr-TR" dirty="0"/>
              <a:t>: </a:t>
            </a:r>
            <a:r>
              <a:rPr lang="tr-TR" dirty="0" err="1"/>
              <a:t>embeddings</a:t>
            </a:r>
            <a:r>
              <a:rPr lang="tr-TR" dirty="0"/>
              <a:t> but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connection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location</a:t>
            </a:r>
            <a:r>
              <a:rPr lang="tr-TR" dirty="0"/>
              <a:t>.</a:t>
            </a:r>
          </a:p>
          <a:p>
            <a:pPr marL="0" indent="0">
              <a:buFontTx/>
              <a:buNone/>
            </a:pPr>
            <a:r>
              <a:rPr lang="tr-TR" dirty="0" err="1"/>
              <a:t>Question</a:t>
            </a:r>
            <a:r>
              <a:rPr lang="tr-TR" dirty="0"/>
              <a:t>: how do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</a:t>
            </a:r>
            <a:r>
              <a:rPr lang="tr-TR" dirty="0" err="1"/>
              <a:t>regions</a:t>
            </a:r>
            <a:r>
              <a:rPr lang="tr-TR" dirty="0"/>
              <a:t> </a:t>
            </a:r>
            <a:r>
              <a:rPr lang="tr-TR" dirty="0" err="1"/>
              <a:t>aware</a:t>
            </a:r>
            <a:r>
              <a:rPr lang="tr-TR" dirty="0"/>
              <a:t> of text </a:t>
            </a:r>
            <a:r>
              <a:rPr lang="tr-TR" dirty="0" err="1"/>
              <a:t>meaning</a:t>
            </a:r>
            <a:r>
              <a:rPr lang="tr-TR" dirty="0"/>
              <a:t>, </a:t>
            </a:r>
            <a:r>
              <a:rPr lang="tr-TR" dirty="0" err="1"/>
              <a:t>without</a:t>
            </a:r>
            <a:r>
              <a:rPr lang="tr-TR" dirty="0"/>
              <a:t> </a:t>
            </a:r>
            <a:r>
              <a:rPr lang="tr-TR" dirty="0" err="1"/>
              <a:t>worsening</a:t>
            </a:r>
            <a:r>
              <a:rPr lang="tr-TR" dirty="0"/>
              <a:t> </a:t>
            </a:r>
            <a:r>
              <a:rPr lang="tr-TR" dirty="0" err="1"/>
              <a:t>YOLO’s</a:t>
            </a:r>
            <a:r>
              <a:rPr lang="tr-TR" dirty="0"/>
              <a:t> </a:t>
            </a:r>
            <a:r>
              <a:rPr lang="tr-TR" dirty="0" err="1"/>
              <a:t>speed</a:t>
            </a:r>
            <a:r>
              <a:rPr lang="tr-TR" dirty="0"/>
              <a:t>? -&gt; </a:t>
            </a:r>
            <a:r>
              <a:rPr lang="tr-TR" dirty="0" err="1"/>
              <a:t>RepVL</a:t>
            </a:r>
            <a:r>
              <a:rPr lang="tr-TR" dirty="0"/>
              <a:t>-PAN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93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a </a:t>
            </a:r>
            <a:r>
              <a:rPr lang="tr-TR" dirty="0" err="1"/>
              <a:t>region</a:t>
            </a:r>
            <a:r>
              <a:rPr lang="tr-TR" dirty="0"/>
              <a:t> </a:t>
            </a:r>
            <a:r>
              <a:rPr lang="tr-TR" dirty="0" err="1"/>
              <a:t>looks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a </a:t>
            </a:r>
            <a:r>
              <a:rPr lang="tr-TR" dirty="0" err="1"/>
              <a:t>dog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vocabulary</a:t>
            </a:r>
            <a:r>
              <a:rPr lang="tr-TR" dirty="0"/>
              <a:t> </a:t>
            </a:r>
            <a:r>
              <a:rPr lang="tr-TR" dirty="0" err="1"/>
              <a:t>contains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Word </a:t>
            </a:r>
            <a:r>
              <a:rPr lang="tr-TR" dirty="0" err="1"/>
              <a:t>dog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region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boosted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irrelevant</a:t>
            </a:r>
            <a:r>
              <a:rPr lang="tr-TR" dirty="0"/>
              <a:t> </a:t>
            </a:r>
            <a:r>
              <a:rPr lang="tr-TR" dirty="0" err="1"/>
              <a:t>regions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suppressed</a:t>
            </a:r>
            <a:r>
              <a:rPr lang="tr-TR"/>
              <a:t>. </a:t>
            </a:r>
          </a:p>
          <a:p>
            <a:r>
              <a:rPr lang="en-US"/>
              <a:t>Enhances regions relevant to the vocabulary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2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word</a:t>
            </a:r>
            <a:r>
              <a:rPr lang="tr-TR" dirty="0"/>
              <a:t> bat is </a:t>
            </a:r>
            <a:r>
              <a:rPr lang="tr-TR" dirty="0" err="1"/>
              <a:t>near</a:t>
            </a:r>
            <a:r>
              <a:rPr lang="tr-TR" dirty="0"/>
              <a:t> a </a:t>
            </a:r>
            <a:r>
              <a:rPr lang="tr-TR" dirty="0" err="1"/>
              <a:t>baseball</a:t>
            </a:r>
            <a:r>
              <a:rPr lang="tr-TR" dirty="0"/>
              <a:t> fi</a:t>
            </a:r>
          </a:p>
          <a:p>
            <a:endParaRPr lang="tr-TR" dirty="0"/>
          </a:p>
          <a:p>
            <a:r>
              <a:rPr lang="tr-TR" dirty="0"/>
              <a:t>I</a:t>
            </a:r>
            <a:r>
              <a:rPr lang="en-US" dirty="0" err="1"/>
              <a:t>nstead</a:t>
            </a:r>
            <a:r>
              <a:rPr lang="en-US" dirty="0"/>
              <a:t> of using full image features (expensive), use compact 3×3 representations</a:t>
            </a:r>
            <a:endParaRPr lang="tr-TR" dirty="0"/>
          </a:p>
          <a:p>
            <a:r>
              <a:rPr lang="en-US" dirty="0"/>
              <a:t>Text embeddings attend to these image regions Updated text embeddings become "image-aware" Helps text representations understand visual context</a:t>
            </a:r>
            <a:endParaRPr lang="tr-TR" dirty="0"/>
          </a:p>
          <a:p>
            <a:endParaRPr lang="tr-T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In the end instead of a classification problem we achieve matching. </a:t>
            </a:r>
          </a:p>
          <a:p>
            <a:r>
              <a:rPr lang="tr-TR" dirty="0" err="1"/>
              <a:t>eld</a:t>
            </a:r>
            <a:r>
              <a:rPr lang="tr-TR" dirty="0"/>
              <a:t>, </a:t>
            </a:r>
            <a:r>
              <a:rPr lang="tr-TR" dirty="0" err="1"/>
              <a:t>then</a:t>
            </a:r>
            <a:r>
              <a:rPr lang="tr-TR" dirty="0"/>
              <a:t> it is </a:t>
            </a:r>
            <a:r>
              <a:rPr lang="tr-TR" dirty="0" err="1"/>
              <a:t>taken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account</a:t>
            </a:r>
            <a:r>
              <a:rPr lang="tr-TR" dirty="0"/>
              <a:t> as </a:t>
            </a:r>
            <a:r>
              <a:rPr lang="tr-TR" dirty="0" err="1"/>
              <a:t>sports</a:t>
            </a:r>
            <a:r>
              <a:rPr lang="tr-TR" dirty="0"/>
              <a:t> bat not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animal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71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cause</a:t>
            </a:r>
            <a:r>
              <a:rPr lang="tr-TR" dirty="0"/>
              <a:t> </a:t>
            </a:r>
            <a:r>
              <a:rPr lang="tr-TR" dirty="0" err="1"/>
              <a:t>problems</a:t>
            </a:r>
            <a:r>
              <a:rPr lang="tr-TR" dirty="0"/>
              <a:t>:</a:t>
            </a:r>
          </a:p>
          <a:p>
            <a:pPr marL="171450" indent="-171450">
              <a:buFontTx/>
              <a:buChar char="-"/>
            </a:pPr>
            <a:r>
              <a:rPr lang="tr-TR" dirty="0" err="1"/>
              <a:t>Slow</a:t>
            </a:r>
            <a:r>
              <a:rPr lang="tr-TR" dirty="0"/>
              <a:t> </a:t>
            </a:r>
            <a:r>
              <a:rPr lang="tr-TR" dirty="0" err="1"/>
              <a:t>runtime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 err="1"/>
              <a:t>Gpu-heavy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/>
              <a:t>Hard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deploy</a:t>
            </a:r>
            <a:endParaRPr lang="tr-TR" dirty="0"/>
          </a:p>
          <a:p>
            <a:pPr marL="171450" indent="-171450">
              <a:buFontTx/>
              <a:buChar char="-"/>
            </a:pPr>
            <a:r>
              <a:rPr lang="tr-TR" dirty="0" err="1"/>
              <a:t>Against</a:t>
            </a:r>
            <a:r>
              <a:rPr lang="tr-TR" dirty="0"/>
              <a:t> </a:t>
            </a:r>
            <a:r>
              <a:rPr lang="tr-TR" dirty="0" err="1"/>
              <a:t>yolo’s</a:t>
            </a:r>
            <a:r>
              <a:rPr lang="tr-TR" dirty="0"/>
              <a:t> </a:t>
            </a:r>
            <a:r>
              <a:rPr lang="tr-TR" dirty="0" err="1"/>
              <a:t>princible</a:t>
            </a:r>
            <a:r>
              <a:rPr lang="tr-TR" dirty="0"/>
              <a:t>. 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71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1.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determine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vocabulary</a:t>
            </a:r>
            <a:r>
              <a:rPr lang="tr-TR" dirty="0"/>
              <a:t> 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hand</a:t>
            </a:r>
            <a:r>
              <a:rPr lang="tr-TR" dirty="0"/>
              <a:t>. </a:t>
            </a:r>
          </a:p>
          <a:p>
            <a:r>
              <a:rPr lang="tr-TR" dirty="0"/>
              <a:t>2.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text </a:t>
            </a:r>
            <a:r>
              <a:rPr lang="tr-TR" dirty="0" err="1"/>
              <a:t>encoder</a:t>
            </a:r>
            <a:r>
              <a:rPr lang="tr-TR" dirty="0"/>
              <a:t> </a:t>
            </a:r>
            <a:r>
              <a:rPr lang="tr-TR" dirty="0" err="1"/>
              <a:t>runs</a:t>
            </a:r>
            <a:r>
              <a:rPr lang="tr-TR" dirty="0"/>
              <a:t> offline. </a:t>
            </a:r>
          </a:p>
          <a:p>
            <a:r>
              <a:rPr lang="tr-TR" dirty="0"/>
              <a:t>(!) </a:t>
            </a:r>
            <a:r>
              <a:rPr lang="tr-TR" dirty="0" err="1"/>
              <a:t>So</a:t>
            </a:r>
            <a:r>
              <a:rPr lang="tr-TR" dirty="0"/>
              <a:t> text </a:t>
            </a:r>
            <a:r>
              <a:rPr lang="tr-TR" dirty="0" err="1"/>
              <a:t>embeddings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merged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convolution</a:t>
            </a:r>
            <a:r>
              <a:rPr lang="tr-TR" dirty="0"/>
              <a:t> </a:t>
            </a:r>
            <a:r>
              <a:rPr lang="tr-TR" dirty="0" err="1"/>
              <a:t>kernels</a:t>
            </a:r>
            <a:r>
              <a:rPr lang="tr-TR" dirty="0"/>
              <a:t>, </a:t>
            </a:r>
            <a:r>
              <a:rPr lang="tr-TR" dirty="0" err="1"/>
              <a:t>linear</a:t>
            </a:r>
            <a:r>
              <a:rPr lang="tr-TR" dirty="0"/>
              <a:t> </a:t>
            </a:r>
            <a:r>
              <a:rPr lang="tr-TR" dirty="0" err="1"/>
              <a:t>layers</a:t>
            </a:r>
            <a:r>
              <a:rPr lang="tr-TR" dirty="0"/>
              <a:t>, </a:t>
            </a:r>
            <a:r>
              <a:rPr lang="tr-TR" dirty="0" err="1"/>
              <a:t>normalization</a:t>
            </a:r>
            <a:r>
              <a:rPr lang="tr-TR" dirty="0"/>
              <a:t> </a:t>
            </a:r>
            <a:r>
              <a:rPr lang="tr-TR" dirty="0" err="1"/>
              <a:t>parameters</a:t>
            </a:r>
            <a:r>
              <a:rPr lang="tr-TR" dirty="0"/>
              <a:t>. </a:t>
            </a:r>
          </a:p>
          <a:p>
            <a:endParaRPr lang="tr-TR" dirty="0"/>
          </a:p>
          <a:p>
            <a:r>
              <a:rPr lang="tr-TR" dirty="0" err="1"/>
              <a:t>This</a:t>
            </a:r>
            <a:r>
              <a:rPr lang="tr-TR" dirty="0"/>
              <a:t> is </a:t>
            </a:r>
            <a:r>
              <a:rPr lang="tr-TR" dirty="0" err="1"/>
              <a:t>called</a:t>
            </a:r>
            <a:r>
              <a:rPr lang="tr-TR" dirty="0"/>
              <a:t> </a:t>
            </a:r>
            <a:r>
              <a:rPr lang="tr-TR" dirty="0" err="1"/>
              <a:t>prompt-then-detect</a:t>
            </a:r>
            <a:r>
              <a:rPr lang="tr-TR" dirty="0"/>
              <a:t> </a:t>
            </a:r>
            <a:r>
              <a:rPr lang="tr-TR" dirty="0" err="1"/>
              <a:t>approach</a:t>
            </a:r>
            <a:endParaRPr lang="tr-TR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41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err="1"/>
              <a:t>This</a:t>
            </a:r>
            <a:r>
              <a:rPr lang="tr-TR" dirty="0"/>
              <a:t> is </a:t>
            </a:r>
            <a:r>
              <a:rPr lang="tr-TR" dirty="0" err="1"/>
              <a:t>called</a:t>
            </a:r>
            <a:r>
              <a:rPr lang="tr-TR" dirty="0"/>
              <a:t> </a:t>
            </a:r>
            <a:r>
              <a:rPr lang="tr-TR" dirty="0" err="1"/>
              <a:t>prompt-then-detect</a:t>
            </a:r>
            <a:endParaRPr lang="tr-TR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79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2. Comparison with Detection Paradigms. (a) Traditional Object Detector: These object detectors can only detect objects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the fixed vocabulary pre-defined by the training datasets, e.g., 80 categories of COCO dataset [26]. The fixed vocabulary limits the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extension for open scenes. (b) Previous Open-Vocabulary Detectors: Previous methods tend to develop large and heavy detectors for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open-vocabulary detection which intuitively have strong capacity. In addition, these detectors simultaneously encode images and texts as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 for prediction, which is time-consuming for practical applications. (c) YOLO-World: We demonstrate the strong open-vocabulary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of lightweight detectors, e.g., YOLO detectors [20, 42], which is of great significance for real-world applications. Rather than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online vocabulary, we present a prompt-then-detect paradigm for efficient inference, in which the user generates a series of prompts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according to the need and the prompts will be encoded into an offline vocabulary. Then it can be re-parameterized as the model weights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 and further acceleration.</a:t>
            </a:r>
            <a:endParaRPr lang="tr-T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tr-T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summary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tr-TR" dirty="0"/>
              <a:t>Offline </a:t>
            </a:r>
            <a:r>
              <a:rPr lang="tr-TR" dirty="0" err="1"/>
              <a:t>vocabulary</a:t>
            </a:r>
            <a:r>
              <a:rPr lang="tr-TR" dirty="0"/>
              <a:t> =  </a:t>
            </a:r>
            <a:r>
              <a:rPr lang="tr-TR" dirty="0" err="1"/>
              <a:t>compiling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weights</a:t>
            </a:r>
            <a:r>
              <a:rPr lang="tr-TR" dirty="0"/>
              <a:t>. </a:t>
            </a:r>
          </a:p>
          <a:p>
            <a:endParaRPr lang="tr-TR" dirty="0"/>
          </a:p>
          <a:p>
            <a:r>
              <a:rPr lang="tr-TR" dirty="0"/>
              <a:t>Language is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longer</a:t>
            </a:r>
            <a:r>
              <a:rPr lang="tr-TR" dirty="0"/>
              <a:t> an </a:t>
            </a:r>
            <a:r>
              <a:rPr lang="tr-TR" dirty="0" err="1"/>
              <a:t>input</a:t>
            </a:r>
            <a:r>
              <a:rPr lang="tr-TR" dirty="0"/>
              <a:t>, it </a:t>
            </a:r>
            <a:r>
              <a:rPr lang="tr-TR" dirty="0" err="1"/>
              <a:t>becomes</a:t>
            </a:r>
            <a:r>
              <a:rPr lang="tr-TR" dirty="0"/>
              <a:t> </a:t>
            </a:r>
            <a:r>
              <a:rPr lang="tr-TR" dirty="0" err="1"/>
              <a:t>part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detector</a:t>
            </a:r>
            <a:r>
              <a:rPr lang="tr-TR" dirty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5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They </a:t>
            </a:r>
            <a:r>
              <a:rPr lang="tr-TR" dirty="0" err="1"/>
              <a:t>don’t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infinite</a:t>
            </a:r>
            <a:r>
              <a:rPr lang="tr-TR" dirty="0"/>
              <a:t> </a:t>
            </a:r>
            <a:r>
              <a:rPr lang="tr-TR" dirty="0" err="1"/>
              <a:t>vocabulary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 </a:t>
            </a:r>
            <a:r>
              <a:rPr lang="tr-TR" dirty="0" err="1"/>
              <a:t>frame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can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them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86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58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77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Changed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base</a:t>
            </a:r>
            <a:r>
              <a:rPr lang="tr-TR" dirty="0"/>
              <a:t> COCO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raw</a:t>
            </a:r>
            <a:r>
              <a:rPr lang="tr-TR" dirty="0"/>
              <a:t> </a:t>
            </a:r>
            <a:r>
              <a:rPr lang="tr-TR" dirty="0" err="1"/>
              <a:t>label’s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descriptive</a:t>
            </a:r>
            <a:r>
              <a:rPr lang="tr-TR" dirty="0"/>
              <a:t> </a:t>
            </a:r>
            <a:r>
              <a:rPr lang="tr-TR" dirty="0" err="1"/>
              <a:t>prompts</a:t>
            </a:r>
            <a:r>
              <a:rPr lang="tr-TR" dirty="0"/>
              <a:t>.</a:t>
            </a:r>
          </a:p>
          <a:p>
            <a:r>
              <a:rPr lang="tr-TR" dirty="0" err="1"/>
              <a:t>e.g</a:t>
            </a:r>
            <a:r>
              <a:rPr lang="tr-TR" dirty="0"/>
              <a:t>. ‘‘</a:t>
            </a:r>
            <a:r>
              <a:rPr lang="tr-TR" dirty="0" err="1"/>
              <a:t>bus</a:t>
            </a:r>
            <a:r>
              <a:rPr lang="tr-TR" dirty="0"/>
              <a:t>’’ -&gt; ‘’a </a:t>
            </a:r>
            <a:r>
              <a:rPr lang="tr-TR" dirty="0" err="1"/>
              <a:t>photo</a:t>
            </a:r>
            <a:r>
              <a:rPr lang="tr-TR" dirty="0"/>
              <a:t> of a </a:t>
            </a:r>
            <a:r>
              <a:rPr lang="tr-TR" dirty="0" err="1"/>
              <a:t>bus</a:t>
            </a:r>
            <a:r>
              <a:rPr lang="tr-TR" dirty="0"/>
              <a:t>’’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8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200" dirty="0"/>
              <a:t>Evaluation </a:t>
            </a:r>
            <a:r>
              <a:rPr lang="tr-TR" sz="1200" dirty="0" err="1"/>
              <a:t>dataset</a:t>
            </a:r>
            <a:r>
              <a:rPr lang="tr-TR" sz="1200" dirty="0"/>
              <a:t> </a:t>
            </a:r>
            <a:r>
              <a:rPr lang="en-US" sz="1200" dirty="0"/>
              <a:t>→</a:t>
            </a:r>
            <a:r>
              <a:rPr lang="tr-TR" sz="1200" dirty="0"/>
              <a:t> COCO </a:t>
            </a:r>
            <a:r>
              <a:rPr lang="tr-TR" sz="1200" dirty="0" err="1"/>
              <a:t>val</a:t>
            </a:r>
            <a:r>
              <a:rPr lang="tr-TR" sz="1200" dirty="0"/>
              <a:t> 2017  (5000 </a:t>
            </a:r>
            <a:r>
              <a:rPr lang="tr-TR" sz="1200" dirty="0" err="1"/>
              <a:t>images</a:t>
            </a:r>
            <a:r>
              <a:rPr lang="tr-TR" sz="1200" dirty="0"/>
              <a:t>)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26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51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Measures how well a predicted bounding box overlaps the ground-</a:t>
            </a:r>
            <a:r>
              <a:rPr lang="en-US" dirty="0" err="1"/>
              <a:t>tru</a:t>
            </a:r>
            <a:endParaRPr lang="tr-TR" dirty="0"/>
          </a:p>
          <a:p>
            <a:endParaRPr lang="tr-TR" dirty="0"/>
          </a:p>
          <a:p>
            <a:r>
              <a:rPr lang="en-US" dirty="0"/>
              <a:t>AP measures detection quality box</a:t>
            </a:r>
            <a:r>
              <a:rPr lang="tr-TR" dirty="0"/>
              <a:t> </a:t>
            </a:r>
            <a:r>
              <a:rPr lang="en-US" dirty="0"/>
              <a:t>primary COCO metric</a:t>
            </a:r>
            <a:r>
              <a:rPr lang="tr-TR" dirty="0"/>
              <a:t>. </a:t>
            </a:r>
            <a:r>
              <a:rPr lang="en-US" dirty="0"/>
              <a:t>Model must </a:t>
            </a:r>
            <a:r>
              <a:rPr lang="en-US" b="1" dirty="0"/>
              <a:t>both</a:t>
            </a:r>
            <a:r>
              <a:rPr lang="en-US" dirty="0"/>
              <a:t> classify correctly </a:t>
            </a:r>
            <a:r>
              <a:rPr lang="en-US" b="1" dirty="0"/>
              <a:t>and</a:t>
            </a:r>
            <a:r>
              <a:rPr lang="en-US" dirty="0"/>
              <a:t> localize precisely</a:t>
            </a:r>
          </a:p>
          <a:p>
            <a:r>
              <a:rPr lang="en-US" dirty="0"/>
              <a:t>Penalizes loose boxes</a:t>
            </a:r>
          </a:p>
          <a:p>
            <a:endParaRPr lang="tr-TR" dirty="0"/>
          </a:p>
          <a:p>
            <a:endParaRPr lang="tr-T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Metric</a:t>
            </a:r>
            <a:r>
              <a:rPr lang="tr-TR" dirty="0"/>
              <a:t>-&gt;</a:t>
            </a:r>
            <a:r>
              <a:rPr lang="en-US" dirty="0"/>
              <a:t>Object size</a:t>
            </a:r>
            <a:r>
              <a:rPr lang="tr-TR" dirty="0"/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AP_s</a:t>
            </a:r>
            <a:r>
              <a:rPr lang="tr-TR" dirty="0"/>
              <a:t> -&gt; </a:t>
            </a:r>
            <a:r>
              <a:rPr lang="en-US" dirty="0"/>
              <a:t>Small</a:t>
            </a:r>
            <a:r>
              <a:rPr lang="tr-TR" dirty="0"/>
              <a:t>   </a:t>
            </a:r>
            <a:r>
              <a:rPr lang="en-US" dirty="0" err="1"/>
              <a:t>AP_m</a:t>
            </a:r>
            <a:r>
              <a:rPr lang="tr-TR" dirty="0"/>
              <a:t>  -&gt;</a:t>
            </a:r>
            <a:r>
              <a:rPr lang="en-US" dirty="0"/>
              <a:t>Medium</a:t>
            </a:r>
            <a:r>
              <a:rPr lang="tr-TR" dirty="0"/>
              <a:t>   </a:t>
            </a:r>
            <a:r>
              <a:rPr lang="en-US" dirty="0" err="1"/>
              <a:t>AP_l</a:t>
            </a:r>
            <a:r>
              <a:rPr lang="tr-TR" dirty="0"/>
              <a:t>  -&gt; </a:t>
            </a:r>
            <a:r>
              <a:rPr lang="en-US" dirty="0"/>
              <a:t>Large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85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????????????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6933-263A-442C-93CF-F51FDA6127B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0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9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1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4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9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9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4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5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5D84ECE-25CF-4635-8CEB-C55E7C3A1B0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602A39D-D189-443C-81FC-E6371FAB6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7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50191B-E258-C5D0-E704-0004BB3D1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555752"/>
            <a:ext cx="9418320" cy="4041648"/>
          </a:xfrm>
        </p:spPr>
        <p:txBody>
          <a:bodyPr>
            <a:normAutofit/>
          </a:bodyPr>
          <a:lstStyle/>
          <a:p>
            <a:r>
              <a:rPr lang="en-US" sz="6600" noProof="0" dirty="0"/>
              <a:t>YOLO-World: Real-Time Open-Vocabulary Object Detection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6E55DDC-71C2-EE1D-A1C5-265A3AA563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CVPR 2024</a:t>
            </a:r>
          </a:p>
          <a:p>
            <a:r>
              <a:rPr lang="en-US" noProof="0" dirty="0"/>
              <a:t>Rabia Şevval Aydın - 504251520</a:t>
            </a:r>
          </a:p>
        </p:txBody>
      </p:sp>
    </p:spTree>
    <p:extLst>
      <p:ext uri="{BB962C8B-B14F-4D97-AF65-F5344CB8AC3E}">
        <p14:creationId xmlns:p14="http://schemas.microsoft.com/office/powerpoint/2010/main" val="248204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C41006-6C52-E474-9B2A-4FCAB194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Core Problem	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433D37-AEFA-1C33-34E7-6DE21710A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Traditional YOLO can only detect objects from predefined categories that they’re trained on (e.g. 80 categories from COCO dataset). This limits their application range in real-world scenarios.</a:t>
            </a:r>
          </a:p>
          <a:p>
            <a:r>
              <a:rPr lang="en-US" sz="2400" noProof="0" dirty="0"/>
              <a:t>Authors aimed to give YOLO ‘open-vocabulary’ capabilities which is the ability to detect any object described in words, not just pre-trained categories. </a:t>
            </a:r>
          </a:p>
        </p:txBody>
      </p:sp>
    </p:spTree>
    <p:extLst>
      <p:ext uri="{BB962C8B-B14F-4D97-AF65-F5344CB8AC3E}">
        <p14:creationId xmlns:p14="http://schemas.microsoft.com/office/powerpoint/2010/main" val="425072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CE6B3F-D8F7-30BB-5B82-D5032322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Existing Open-Vocabulary Detectors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777488-E53C-BD0C-4481-E93AA09A8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GLIP, Grounding-DINO, </a:t>
            </a:r>
            <a:r>
              <a:rPr lang="en-US" sz="2000" noProof="0" dirty="0" err="1"/>
              <a:t>DetCLIP</a:t>
            </a:r>
            <a:r>
              <a:rPr lang="en-US" sz="2000" noProof="0" dirty="0"/>
              <a:t> etc.</a:t>
            </a:r>
          </a:p>
          <a:p>
            <a:pPr lvl="1"/>
            <a:r>
              <a:rPr lang="en-US" sz="1800" noProof="0" dirty="0"/>
              <a:t>Use vision-language models</a:t>
            </a:r>
          </a:p>
          <a:p>
            <a:pPr lvl="1"/>
            <a:r>
              <a:rPr lang="en-US" sz="1800" noProof="0" dirty="0"/>
              <a:t>Often rely on large transformers (Swin-L, </a:t>
            </a:r>
            <a:r>
              <a:rPr lang="en-US" sz="1800" noProof="0" dirty="0" err="1"/>
              <a:t>ViT</a:t>
            </a:r>
            <a:r>
              <a:rPr lang="en-US" sz="1800" noProof="0" dirty="0"/>
              <a:t>-L)</a:t>
            </a:r>
          </a:p>
          <a:p>
            <a:pPr lvl="1"/>
            <a:r>
              <a:rPr lang="en-US" sz="1800" noProof="0" dirty="0"/>
              <a:t>Perform online text encoding during inference</a:t>
            </a:r>
          </a:p>
          <a:p>
            <a:r>
              <a:rPr lang="en-US" sz="2000" noProof="0" dirty="0"/>
              <a:t>Result:</a:t>
            </a:r>
          </a:p>
          <a:p>
            <a:pPr lvl="1"/>
            <a:r>
              <a:rPr lang="en-US" sz="1800" noProof="0" dirty="0"/>
              <a:t>Very slow</a:t>
            </a:r>
          </a:p>
          <a:p>
            <a:pPr lvl="1"/>
            <a:r>
              <a:rPr lang="en-US" sz="1800" noProof="0" dirty="0"/>
              <a:t>Hard to deploy on real time systems</a:t>
            </a:r>
          </a:p>
          <a:p>
            <a:pPr marL="457200" lvl="1" indent="0">
              <a:buNone/>
            </a:pPr>
            <a:endParaRPr lang="en-US" sz="1800" noProof="0" dirty="0"/>
          </a:p>
          <a:p>
            <a:pPr marL="0" indent="0">
              <a:buNone/>
            </a:pPr>
            <a:r>
              <a:rPr lang="en-US" sz="2000" noProof="0" dirty="0"/>
              <a:t>Key Idea of YOLO-World:</a:t>
            </a:r>
          </a:p>
          <a:p>
            <a:r>
              <a:rPr lang="en-US" sz="2000" noProof="0" dirty="0"/>
              <a:t>Can we turn YOLO into vision-language detector without losing real time performance?</a:t>
            </a:r>
          </a:p>
        </p:txBody>
      </p:sp>
    </p:spTree>
    <p:extLst>
      <p:ext uri="{BB962C8B-B14F-4D97-AF65-F5344CB8AC3E}">
        <p14:creationId xmlns:p14="http://schemas.microsoft.com/office/powerpoint/2010/main" val="74929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2D6DE3-4B1C-23F3-1EDC-6A466037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874" y="782396"/>
            <a:ext cx="6012252" cy="4472229"/>
          </a:xfrm>
          <a:prstGeom prst="rect">
            <a:avLst/>
          </a:prstGeom>
        </p:spPr>
      </p:pic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A4777C6E-9F8D-5FF4-7F85-B93BC7B5CF33}"/>
              </a:ext>
            </a:extLst>
          </p:cNvPr>
          <p:cNvSpPr txBox="1">
            <a:spLocks/>
          </p:cNvSpPr>
          <p:nvPr/>
        </p:nvSpPr>
        <p:spPr>
          <a:xfrm>
            <a:off x="838200" y="5254625"/>
            <a:ext cx="10515600" cy="917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noProof="0" dirty="0"/>
              <a:t>Figure 1. Speed-and-Accuracy Curve. Comparing </a:t>
            </a:r>
            <a:r>
              <a:rPr lang="en-US" sz="1800" noProof="0" dirty="0" err="1"/>
              <a:t>YOLOWorld</a:t>
            </a:r>
            <a:r>
              <a:rPr lang="en-US" sz="1800" noProof="0" dirty="0"/>
              <a:t> with recent open-vocabulary methods in terms of speed and accuracy. All models are evaluated on the LVIS </a:t>
            </a:r>
            <a:r>
              <a:rPr lang="en-US" sz="1800" noProof="0" dirty="0" err="1"/>
              <a:t>minival</a:t>
            </a:r>
            <a:r>
              <a:rPr lang="en-US" sz="1800" noProof="0" dirty="0"/>
              <a:t> and inference speeds are measured on one NVIDIA V100 w/o </a:t>
            </a:r>
            <a:r>
              <a:rPr lang="en-US" sz="1800" noProof="0" dirty="0" err="1"/>
              <a:t>TensorRT</a:t>
            </a:r>
            <a:r>
              <a:rPr lang="en-US" sz="1800" noProof="0" dirty="0"/>
              <a:t>. The size of the circle represents the model’s size.</a:t>
            </a:r>
          </a:p>
        </p:txBody>
      </p:sp>
    </p:spTree>
    <p:extLst>
      <p:ext uri="{BB962C8B-B14F-4D97-AF65-F5344CB8AC3E}">
        <p14:creationId xmlns:p14="http://schemas.microsoft.com/office/powerpoint/2010/main" val="276302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7105BE-0254-82C4-4C13-5DF129577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Traditional YOLO will look for:</a:t>
            </a:r>
          </a:p>
          <a:p>
            <a:pPr lvl="1"/>
            <a:r>
              <a:rPr lang="en-US" sz="2000" noProof="0" dirty="0"/>
              <a:t>Is this a dog, car, or a person?</a:t>
            </a:r>
          </a:p>
          <a:p>
            <a:r>
              <a:rPr lang="en-US" sz="2400" noProof="0" dirty="0"/>
              <a:t>YOLO-World looks for:</a:t>
            </a:r>
          </a:p>
          <a:p>
            <a:pPr lvl="1"/>
            <a:r>
              <a:rPr lang="en-US" sz="2000" noProof="0" dirty="0"/>
              <a:t>Does this region mat</a:t>
            </a:r>
            <a:r>
              <a:rPr lang="tr-TR" sz="2000" noProof="0" dirty="0"/>
              <a:t>c</a:t>
            </a:r>
            <a:r>
              <a:rPr lang="en-US" sz="2000" noProof="0" dirty="0"/>
              <a:t>h the meaning of the ‘golden dog’?</a:t>
            </a:r>
          </a:p>
          <a:p>
            <a:r>
              <a:rPr lang="en-US" sz="2400" noProof="0" dirty="0"/>
              <a:t>So</a:t>
            </a:r>
            <a:r>
              <a:rPr lang="tr-TR" sz="2400" noProof="0" dirty="0"/>
              <a:t>,</a:t>
            </a:r>
            <a:r>
              <a:rPr lang="en-US" sz="2400" noProof="0" dirty="0"/>
              <a:t> the detector no longer predict categories. It predicts:</a:t>
            </a:r>
          </a:p>
          <a:p>
            <a:pPr lvl="1"/>
            <a:r>
              <a:rPr lang="en-US" sz="2000" noProof="0" dirty="0"/>
              <a:t>Bounding boxes</a:t>
            </a:r>
          </a:p>
          <a:p>
            <a:pPr lvl="1"/>
            <a:r>
              <a:rPr lang="en-US" sz="2000" noProof="0" dirty="0"/>
              <a:t>Embeddings that live in the same space as text embeddings. </a:t>
            </a:r>
          </a:p>
          <a:p>
            <a:pPr lvl="1"/>
            <a:endParaRPr lang="en-US" sz="2000" noProof="0" dirty="0"/>
          </a:p>
          <a:p>
            <a:r>
              <a:rPr lang="en-US" sz="2400" noProof="0" dirty="0"/>
              <a:t>Detection becomes matching, not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194377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53D7DD-F4C3-F13A-1670-A4FA2C509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 dirty="0"/>
              <a:t>Reformulating Detection as </a:t>
            </a:r>
            <a:r>
              <a:rPr lang="en-US" sz="4000" i="1" noProof="0" dirty="0"/>
              <a:t>Region–Text Matching</a:t>
            </a:r>
            <a:endParaRPr lang="en-US" sz="40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55BB8DA-7293-13B2-A3E6-1BAEBAC40C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noProof="0" dirty="0"/>
                  <a:t>Traditional Detection Formulation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noProof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: bounding box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: class ID (fixed vocabulary)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YOLO-World replaces class IDs with </a:t>
                </a:r>
                <a:r>
                  <a:rPr lang="en-US" b="1" noProof="0" dirty="0"/>
                  <a:t>text descriptions</a:t>
                </a:r>
                <a:r>
                  <a:rPr lang="en-US" noProof="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noProof="0" dirty="0"/>
              </a:p>
              <a:p>
                <a:r>
                  <a:rPr lang="en-US" noProof="0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can be:</a:t>
                </a:r>
              </a:p>
              <a:p>
                <a:pPr lvl="1"/>
                <a:r>
                  <a:rPr lang="en-US" noProof="0" dirty="0"/>
                  <a:t>category names (“dog”)</a:t>
                </a:r>
              </a:p>
              <a:p>
                <a:pPr lvl="1"/>
                <a:r>
                  <a:rPr lang="en-US" noProof="0" dirty="0"/>
                  <a:t>noun phrases (“golden dog”)</a:t>
                </a:r>
              </a:p>
              <a:p>
                <a:pPr lvl="1"/>
                <a:r>
                  <a:rPr lang="en-US" noProof="0" dirty="0"/>
                  <a:t>descriptions (“man holding a skateboard”)</a:t>
                </a:r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355BB8DA-7293-13B2-A3E6-1BAEBAC40C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2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82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67FC4E-CED4-91DF-8E94-F45CA6CA7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7011"/>
            <a:ext cx="10515600" cy="17373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400" noProof="0" dirty="0"/>
              <a:t>Figure 3. Overall Architecture of YOLO-World. Compared to traditional YOLO detectors, YOLO-World as an open-vocabulary detector adopts text as input. The Text Encoder first encodes the input text input text embeddings. Then the Image Encoder encodes the input image into multi-scale image features, and the proposed </a:t>
            </a:r>
            <a:r>
              <a:rPr lang="en-US" sz="1400" noProof="0" dirty="0" err="1"/>
              <a:t>RepVL</a:t>
            </a:r>
            <a:r>
              <a:rPr lang="en-US" sz="1400" noProof="0" dirty="0"/>
              <a:t>-PAN exploits the multi-level cross-modality fusion for both image and text features. Finally, YOLO-World predicts the regressed bounding boxes and the object embeddings for matching the categories or nouns that appeared in the input text.</a:t>
            </a:r>
          </a:p>
          <a:p>
            <a:pPr marL="0" indent="0">
              <a:buNone/>
            </a:pPr>
            <a:endParaRPr lang="en-US" sz="1400" noProof="0" dirty="0"/>
          </a:p>
        </p:txBody>
      </p:sp>
      <p:pic>
        <p:nvPicPr>
          <p:cNvPr id="5" name="Resim 4" descr="metin, diyagram, ekran görüntüsü, pl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9A5641F-79D1-2AC7-F89A-90F8126F0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30" y="1076032"/>
            <a:ext cx="9240540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2E9EB0-4DC0-15DF-AD2B-F940964D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 YOLO Backbone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911486-8BCD-0141-D603-13F03919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Standard YOLOv8 architecture. </a:t>
            </a:r>
          </a:p>
          <a:p>
            <a:r>
              <a:rPr lang="en-US" sz="2000" noProof="0" dirty="0"/>
              <a:t>Takes an image</a:t>
            </a:r>
          </a:p>
          <a:p>
            <a:r>
              <a:rPr lang="en-US" sz="2000" noProof="0" dirty="0"/>
              <a:t>Produces multi-scale feature maps:</a:t>
            </a:r>
          </a:p>
          <a:p>
            <a:r>
              <a:rPr lang="en-US" sz="2000" noProof="0" dirty="0"/>
              <a:t>C3 (small objects) [H/8  × W/8  × D]</a:t>
            </a:r>
          </a:p>
          <a:p>
            <a:r>
              <a:rPr lang="en-US" sz="2000" noProof="0" dirty="0"/>
              <a:t>C4 (medium objects) [H/16 × W/16 × D]</a:t>
            </a:r>
          </a:p>
          <a:p>
            <a:r>
              <a:rPr lang="en-US" sz="2000" noProof="0" dirty="0"/>
              <a:t>C5 (large objects) [H/32 × W/32 × D]</a:t>
            </a:r>
          </a:p>
        </p:txBody>
      </p:sp>
    </p:spTree>
    <p:extLst>
      <p:ext uri="{BB962C8B-B14F-4D97-AF65-F5344CB8AC3E}">
        <p14:creationId xmlns:p14="http://schemas.microsoft.com/office/powerpoint/2010/main" val="361126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F56AB4-5C68-EE91-B1B6-44D71378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2. Text Encoder (CLIP)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305BCD-61F2-7ACF-DDCC-2111375A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Gets input text in the following formats:</a:t>
            </a:r>
          </a:p>
          <a:p>
            <a:pPr lvl="1"/>
            <a:r>
              <a:rPr lang="en-US" sz="1800" noProof="0" dirty="0"/>
              <a:t>[‘man’, ‘woman’, ‘dog’]</a:t>
            </a:r>
          </a:p>
          <a:p>
            <a:pPr lvl="1"/>
            <a:r>
              <a:rPr lang="en-US" sz="1800" noProof="0" dirty="0"/>
              <a:t>[‘golden dog’, ‘black dog’]</a:t>
            </a:r>
          </a:p>
          <a:p>
            <a:pPr lvl="1"/>
            <a:r>
              <a:rPr lang="en-US" sz="1800" noProof="0" dirty="0"/>
              <a:t>[‘person holding a cup’]</a:t>
            </a:r>
          </a:p>
          <a:p>
            <a:r>
              <a:rPr lang="en-US" sz="2000" noProof="0" dirty="0"/>
              <a:t>CLIP converts each phrase into D-dimensional embedding. </a:t>
            </a:r>
          </a:p>
          <a:p>
            <a:endParaRPr lang="en-US" sz="2000" noProof="0" dirty="0"/>
          </a:p>
          <a:p>
            <a:r>
              <a:rPr lang="en-US" sz="2000" noProof="0" dirty="0"/>
              <a:t>CLIP is frozen. </a:t>
            </a:r>
          </a:p>
          <a:p>
            <a:r>
              <a:rPr lang="en-US" sz="2000" noProof="0" dirty="0"/>
              <a:t>It already knows visual semantics from image-text pretraining. </a:t>
            </a:r>
          </a:p>
        </p:txBody>
      </p:sp>
    </p:spTree>
    <p:extLst>
      <p:ext uri="{BB962C8B-B14F-4D97-AF65-F5344CB8AC3E}">
        <p14:creationId xmlns:p14="http://schemas.microsoft.com/office/powerpoint/2010/main" val="375297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76107D-8A3F-607F-879D-E930B142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3. </a:t>
            </a:r>
            <a:r>
              <a:rPr lang="en-US" noProof="0" dirty="0" err="1"/>
              <a:t>RepVL</a:t>
            </a:r>
            <a:r>
              <a:rPr lang="en-US" noProof="0" dirty="0"/>
              <a:t>-PAN (Vision–Language Fusion)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E7AB51A-B410-F753-28B7-9CD40A866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noProof="0" dirty="0" err="1"/>
              <a:t>RepVL</a:t>
            </a:r>
            <a:r>
              <a:rPr lang="en-US" noProof="0" dirty="0"/>
              <a:t>-PAN modifies YOLO’s Path Aggregation Network (PAN).</a:t>
            </a:r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r>
              <a:rPr lang="en-US" noProof="0" dirty="0"/>
              <a:t>Standard PAN: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Combines C3, C4, C5 top-down and bottom-up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Helps multi-scale detection</a:t>
            </a:r>
          </a:p>
          <a:p>
            <a:pPr>
              <a:buNone/>
            </a:pPr>
            <a:endParaRPr lang="en-US" noProof="0" dirty="0"/>
          </a:p>
          <a:p>
            <a:pPr>
              <a:buNone/>
            </a:pPr>
            <a:r>
              <a:rPr lang="en-US" noProof="0" dirty="0"/>
              <a:t>YOLO-World adds two lightweight language interactions:</a:t>
            </a:r>
          </a:p>
          <a:p>
            <a:r>
              <a:rPr lang="en-US" noProof="0" dirty="0"/>
              <a:t>Text-Guided CSP Layer (Text → Image)</a:t>
            </a:r>
          </a:p>
          <a:p>
            <a:r>
              <a:rPr lang="en-US" noProof="0" dirty="0"/>
              <a:t>Image-Pooling Attention (Image → Text)</a:t>
            </a:r>
          </a:p>
        </p:txBody>
      </p:sp>
    </p:spTree>
    <p:extLst>
      <p:ext uri="{BB962C8B-B14F-4D97-AF65-F5344CB8AC3E}">
        <p14:creationId xmlns:p14="http://schemas.microsoft.com/office/powerpoint/2010/main" val="395274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14DFAE-1BAC-C068-951E-6CFBF356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3.1 Text-Guided CSP Layer </a:t>
            </a:r>
            <a:br>
              <a:rPr lang="en-US" noProof="0" dirty="0"/>
            </a:br>
            <a:r>
              <a:rPr lang="en-US" noProof="0" dirty="0"/>
              <a:t>(Text → Image)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4328D6-BAF4-F265-2DF9-B8785AC46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“Which words are relevant to this image location?”</a:t>
            </a:r>
          </a:p>
          <a:p>
            <a:endParaRPr lang="en-US" sz="2000" noProof="0" dirty="0"/>
          </a:p>
          <a:p>
            <a:pPr marL="0" indent="0">
              <a:buNone/>
            </a:pPr>
            <a:r>
              <a:rPr lang="en-US" sz="2000" noProof="0" dirty="0"/>
              <a:t>For each spatial location in the feature map: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Compare that feature vector with all text embeddings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Find the most relevant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Use it as an attention gate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139130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DB7806-43EB-19D7-12F2-F5345FFA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3.2 Image-Pooling Attention </a:t>
            </a:r>
            <a:br>
              <a:rPr lang="en-US" noProof="0" dirty="0"/>
            </a:br>
            <a:r>
              <a:rPr lang="en-US" noProof="0" dirty="0"/>
              <a:t>(Image → Text)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C1A7AE-CDE5-3B26-C5CA-0D897CB4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“Given this image, what do these words mean </a:t>
            </a:r>
            <a:r>
              <a:rPr lang="en-US" i="1" noProof="0" dirty="0"/>
              <a:t>in this context</a:t>
            </a:r>
            <a:r>
              <a:rPr lang="en-US" noProof="0" dirty="0"/>
              <a:t>?”</a:t>
            </a:r>
          </a:p>
          <a:p>
            <a:endParaRPr lang="en-US" noProof="0" dirty="0"/>
          </a:p>
          <a:p>
            <a:pPr marL="0" indent="0">
              <a:buNone/>
            </a:pPr>
            <a:r>
              <a:rPr lang="en-US" b="1" noProof="0" dirty="0"/>
              <a:t>Instead of heavy attention over all pixels</a:t>
            </a:r>
            <a:r>
              <a:rPr lang="en-US" noProof="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Pools image features into 27 representative tokens. (3 levels × 9 regions)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Runs multi-head attention:</a:t>
            </a:r>
          </a:p>
          <a:p>
            <a:pPr lvl="1"/>
            <a:r>
              <a:rPr lang="en-US" noProof="0" dirty="0"/>
              <a:t>Query: text embeddings</a:t>
            </a:r>
          </a:p>
          <a:p>
            <a:pPr lvl="1"/>
            <a:r>
              <a:rPr lang="en-US" noProof="0" dirty="0"/>
              <a:t>Key/Values: pooled image features</a:t>
            </a:r>
          </a:p>
          <a:p>
            <a:pPr lvl="1"/>
            <a:r>
              <a:rPr lang="en-US" noProof="0" dirty="0"/>
              <a:t>W' = W + </a:t>
            </a:r>
            <a:r>
              <a:rPr lang="en-US" noProof="0" dirty="0" err="1"/>
              <a:t>MultiHead</a:t>
            </a:r>
            <a:r>
              <a:rPr lang="en-US" noProof="0" dirty="0"/>
              <a:t>-Attention(W, X̃, X̃)</a:t>
            </a:r>
          </a:p>
          <a:p>
            <a:pPr lvl="1"/>
            <a:endParaRPr lang="en-US" noProof="0" dirty="0"/>
          </a:p>
          <a:p>
            <a:r>
              <a:rPr lang="en-US" noProof="0" dirty="0"/>
              <a:t>Result: image-aware text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16870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B1F758-31CE-A07A-24CF-CF1CBCF5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Online vs. Offline Vocabulary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278F23-3A51-67DE-F221-E958BF6B5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Vocabulary = set of words/phrases model is allowed to detect</a:t>
            </a:r>
          </a:p>
          <a:p>
            <a:endParaRPr lang="en-US" sz="2000" noProof="0" dirty="0"/>
          </a:p>
          <a:p>
            <a:r>
              <a:rPr lang="en-US" sz="2000" noProof="0" dirty="0"/>
              <a:t>During </a:t>
            </a:r>
            <a:r>
              <a:rPr lang="en-US" sz="2000" b="1" noProof="0" dirty="0"/>
              <a:t>training</a:t>
            </a:r>
            <a:r>
              <a:rPr lang="en-US" sz="2000" noProof="0" dirty="0"/>
              <a:t>, YOLO-World uses </a:t>
            </a:r>
            <a:r>
              <a:rPr lang="en-US" sz="2000" b="1" noProof="0" dirty="0"/>
              <a:t>online vocabulary</a:t>
            </a:r>
            <a:r>
              <a:rPr lang="en-US" sz="2000" noProof="0" dirty="0"/>
              <a:t>.</a:t>
            </a:r>
          </a:p>
          <a:p>
            <a:r>
              <a:rPr lang="en-US" sz="2000" noProof="0" dirty="0"/>
              <a:t>Each training batch has different words that comes from category names, noun phrases, captions. </a:t>
            </a:r>
          </a:p>
          <a:p>
            <a:r>
              <a:rPr lang="en-US" sz="2000" noProof="0" dirty="0"/>
              <a:t>Text encoder runs every batch. </a:t>
            </a:r>
          </a:p>
          <a:p>
            <a:r>
              <a:rPr lang="en-US" sz="2000" noProof="0" dirty="0"/>
              <a:t>So, the vocabulary changes dynamically which is good for open-vocabulary generalization and aligning regions with words. </a:t>
            </a:r>
          </a:p>
        </p:txBody>
      </p:sp>
    </p:spTree>
    <p:extLst>
      <p:ext uri="{BB962C8B-B14F-4D97-AF65-F5344CB8AC3E}">
        <p14:creationId xmlns:p14="http://schemas.microsoft.com/office/powerpoint/2010/main" val="114200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2765A3-1D66-EC46-4746-0135D7099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Why online vocabulary is bad for inference?</a:t>
            </a:r>
          </a:p>
          <a:p>
            <a:pPr marL="0" indent="0">
              <a:buNone/>
            </a:pPr>
            <a:r>
              <a:rPr lang="en-US" sz="2000" noProof="0" dirty="0"/>
              <a:t>For every image: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Run text encoder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Encode all prompts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Match regions to text</a:t>
            </a:r>
          </a:p>
          <a:p>
            <a:pPr marL="514350" indent="-514350">
              <a:buFont typeface="+mj-lt"/>
              <a:buAutoNum type="arabicPeriod"/>
            </a:pPr>
            <a:endParaRPr lang="en-US" sz="2000" noProof="0" dirty="0"/>
          </a:p>
          <a:p>
            <a:pPr marL="0" indent="0">
              <a:buNone/>
            </a:pPr>
            <a:r>
              <a:rPr lang="en-US" sz="2000" noProof="0" dirty="0"/>
              <a:t>This is what models like Grounding-DINO/GLIP do. They run text encoding for every image. </a:t>
            </a:r>
          </a:p>
        </p:txBody>
      </p:sp>
    </p:spTree>
    <p:extLst>
      <p:ext uri="{BB962C8B-B14F-4D97-AF65-F5344CB8AC3E}">
        <p14:creationId xmlns:p14="http://schemas.microsoft.com/office/powerpoint/2010/main" val="450052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A5B644-963F-8262-A900-E52FF8B1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offline vocabulary?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C700A8-E7B8-285E-2000-7BBBDFFBE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noProof="0" dirty="0"/>
              <a:t>You encode the text once, ahead of time, and never run the text encoder during inference.</a:t>
            </a:r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Before inference, user chooses what they want to detect. This can be categories, phrases or descriptions.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You run the CLIP text encoder once to get embeddings. This happens once per vocabulary not per image. 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YOLO-World absorbs the text embedding into network weights.      (Re-parameterization)</a:t>
            </a:r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  <a:p>
            <a:r>
              <a:rPr lang="en-US" noProof="0" dirty="0"/>
              <a:t>After is text encoder is no longer needed, embeddings are no longer inputs. The detector becomes pure CNN again.  (prompt-then-detect)</a:t>
            </a:r>
          </a:p>
        </p:txBody>
      </p:sp>
    </p:spTree>
    <p:extLst>
      <p:ext uri="{BB962C8B-B14F-4D97-AF65-F5344CB8AC3E}">
        <p14:creationId xmlns:p14="http://schemas.microsoft.com/office/powerpoint/2010/main" val="3838113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2477E9-2222-926D-9220-D20BE9F0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prompt-then-detect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8EAE05-7231-242F-807D-E38C9E02D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Traditional open-vocabulary detectors:</a:t>
            </a:r>
          </a:p>
          <a:p>
            <a:r>
              <a:rPr lang="en-US" sz="2000" noProof="0" dirty="0"/>
              <a:t>Prompt + Image → Detection (every single time)</a:t>
            </a:r>
          </a:p>
          <a:p>
            <a:endParaRPr lang="en-US" sz="2000" noProof="0" dirty="0"/>
          </a:p>
          <a:p>
            <a:r>
              <a:rPr lang="en-US" sz="2000" noProof="0" dirty="0"/>
              <a:t>YOLO-World:</a:t>
            </a:r>
          </a:p>
          <a:p>
            <a:r>
              <a:rPr lang="en-US" sz="2000" noProof="0" dirty="0"/>
              <a:t>Prompt → Compile → Detect many images</a:t>
            </a:r>
          </a:p>
        </p:txBody>
      </p:sp>
    </p:spTree>
    <p:extLst>
      <p:ext uri="{BB962C8B-B14F-4D97-AF65-F5344CB8AC3E}">
        <p14:creationId xmlns:p14="http://schemas.microsoft.com/office/powerpoint/2010/main" val="6897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94A6334-95CF-DF4C-ECA0-86E61328B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519" y="1756131"/>
            <a:ext cx="9392961" cy="1886213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9A77737A-FDB5-FFED-5D4D-E783672510F3}"/>
              </a:ext>
            </a:extLst>
          </p:cNvPr>
          <p:cNvSpPr txBox="1">
            <a:spLocks/>
          </p:cNvSpPr>
          <p:nvPr/>
        </p:nvSpPr>
        <p:spPr>
          <a:xfrm>
            <a:off x="838200" y="4227249"/>
            <a:ext cx="10515600" cy="1737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/>
              <a:t>Figure 3. Comparison with Detection Paradigms. (a) Traditional Object Detector: These object detectors can only detect objects within the fixed vocabulary pre-defined by the training datasets, e.g., 80 categories of COCO dataset [26]. The fixed vocabulary limits the extension for open scenes. (b) Previous Open-Vocabulary Detectors: Previous methods tend to develop large and heavy detectors for open-vocabulary detection which intuitively have strong capacity. In addition, these detectors simultaneously encode images and texts as input for prediction, which is time-consuming for practical applications. (c) YOLO-World: We demonstrate the strong open-vocabulary performance of lightweight detectors, e.g., YOLO detectors [20, 42], which is of great significance for real-world applications. Rather than using online vocabulary, we present a prompt-then-detect paradigm for efficient inference, in which the user generates a series of prompts according to the need and the prompts will be encoded into an offline vocabulary. Then it can be re-parameterized as the model weights for deployment and further acceleration.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463730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AF7FEE-0CB2-5C12-B2B7-B5FAD858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Trade-off of offline vocabulary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78D1E5-046E-0171-9DFB-63CE5A879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It can only detect that predetermined vocabulary. </a:t>
            </a:r>
          </a:p>
          <a:p>
            <a:r>
              <a:rPr lang="en-US" sz="2000" noProof="0" dirty="0"/>
              <a:t>To change vocabulary:</a:t>
            </a:r>
          </a:p>
          <a:p>
            <a:pPr lvl="1"/>
            <a:r>
              <a:rPr lang="en-US" sz="1800" noProof="0" dirty="0"/>
              <a:t>Re-encode text</a:t>
            </a:r>
          </a:p>
          <a:p>
            <a:pPr lvl="1"/>
            <a:r>
              <a:rPr lang="en-US" sz="1800" noProof="0" dirty="0"/>
              <a:t>Re-parameterize</a:t>
            </a:r>
          </a:p>
          <a:p>
            <a:pPr lvl="1"/>
            <a:r>
              <a:rPr lang="en-US" sz="1800" noProof="0" dirty="0"/>
              <a:t>Redeploy</a:t>
            </a:r>
          </a:p>
          <a:p>
            <a:pPr lvl="1"/>
            <a:endParaRPr lang="en-US" sz="1800" noProof="0" dirty="0"/>
          </a:p>
          <a:p>
            <a:r>
              <a:rPr lang="en-US" sz="2000" noProof="0" dirty="0"/>
              <a:t>But doing this is cheap, fast and acceptable in real scenarios. </a:t>
            </a:r>
          </a:p>
          <a:p>
            <a:endParaRPr lang="en-US" sz="2000" noProof="0" dirty="0"/>
          </a:p>
          <a:p>
            <a:r>
              <a:rPr lang="en-US" sz="2000" noProof="0" dirty="0"/>
              <a:t>A traffic camera system, an autonomous vehicle.</a:t>
            </a:r>
          </a:p>
        </p:txBody>
      </p:sp>
    </p:spTree>
    <p:extLst>
      <p:ext uri="{BB962C8B-B14F-4D97-AF65-F5344CB8AC3E}">
        <p14:creationId xmlns:p14="http://schemas.microsoft.com/office/powerpoint/2010/main" val="155115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3453B0-3C83-003C-2D91-C4210FE3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Training Details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EF4F3C8-B8A0-98EA-490A-846A6A106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Optimizer: Adam W</a:t>
            </a:r>
          </a:p>
          <a:p>
            <a:r>
              <a:rPr lang="en-US" noProof="0" dirty="0"/>
              <a:t>Learning rate: 0.002</a:t>
            </a:r>
          </a:p>
          <a:p>
            <a:r>
              <a:rPr lang="en-US" noProof="0" dirty="0"/>
              <a:t>Weight decay: 0.05</a:t>
            </a:r>
          </a:p>
          <a:p>
            <a:r>
              <a:rPr lang="en-US" noProof="0" dirty="0"/>
              <a:t>Batch size: 512 (32 V100 GPUs)</a:t>
            </a:r>
          </a:p>
          <a:p>
            <a:r>
              <a:rPr lang="en-US" noProof="0" dirty="0"/>
              <a:t>100 epochs</a:t>
            </a:r>
          </a:p>
          <a:p>
            <a:r>
              <a:rPr lang="en-US" noProof="0" dirty="0"/>
              <a:t>Data augmentation: color jittering, random affine transformations, random horizontal flip, mosaic augmentation. </a:t>
            </a:r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058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6FE4C3-00B0-69D0-E1B3-C51B5560A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YOLO-World is pre-trained on large-scale datasets, including detection, grounding, and image-text datasets.</a:t>
            </a:r>
          </a:p>
          <a:p>
            <a:endParaRPr lang="en-US" sz="2000" noProof="0" dirty="0"/>
          </a:p>
          <a:p>
            <a:r>
              <a:rPr lang="en-US" sz="2000" noProof="0" dirty="0"/>
              <a:t>Objects365 (365 categories)</a:t>
            </a:r>
          </a:p>
          <a:p>
            <a:r>
              <a:rPr lang="en-US" sz="2000" noProof="0" dirty="0"/>
              <a:t>LVIS (1000+ categories)</a:t>
            </a:r>
          </a:p>
          <a:p>
            <a:r>
              <a:rPr lang="en-US" sz="2000" noProof="0" dirty="0"/>
              <a:t>Mixed Grounding Datasets (Flickr30k, GQA, COCO)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6166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7E156F-1441-C077-1D3E-8EC220A8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Importance of Text Quality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06AE3F-19EE-87F7-A310-7425A5ECE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GQA dataset provides biggest improvement because:</a:t>
            </a:r>
          </a:p>
          <a:p>
            <a:r>
              <a:rPr lang="en-US" sz="2000" noProof="0" dirty="0"/>
              <a:t>Rich noun phrases vs. simple category names</a:t>
            </a:r>
          </a:p>
          <a:p>
            <a:r>
              <a:rPr lang="en-US" sz="2000" noProof="0" dirty="0"/>
              <a:t>Diverse linguistic descriptions</a:t>
            </a:r>
          </a:p>
          <a:p>
            <a:r>
              <a:rPr lang="en-US" sz="2000" noProof="0" dirty="0"/>
              <a:t>Better visual-semantic alignment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537842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DEB473-1536-ABAE-EBFD-6B0D365D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Prompt/vocabulary improvements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1C2C68-EFCA-BF01-51F4-C90413F5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noProof="0" dirty="0"/>
              <a:t>A1) Better prompt templates</a:t>
            </a:r>
          </a:p>
          <a:p>
            <a:pPr marL="0" indent="0">
              <a:buNone/>
            </a:pPr>
            <a:r>
              <a:rPr lang="en-US" sz="2000" noProof="0" dirty="0"/>
              <a:t>Instead of raw category names:</a:t>
            </a:r>
          </a:p>
          <a:p>
            <a:r>
              <a:rPr lang="en-US" sz="2000" noProof="0" dirty="0"/>
              <a:t>"dog" → "a photo of a dog" / "a clear photo of a dog"</a:t>
            </a:r>
          </a:p>
          <a:p>
            <a:r>
              <a:rPr lang="en-US" sz="2000" noProof="0" dirty="0"/>
              <a:t>Add synonyms: "sofa, couch" (treat as multiple entries, merge results)</a:t>
            </a:r>
          </a:p>
          <a:p>
            <a:pPr marL="0" indent="0">
              <a:buNone/>
            </a:pPr>
            <a:r>
              <a:rPr lang="en-US" sz="2000" b="1" noProof="0" dirty="0"/>
              <a:t>Why it can help:</a:t>
            </a:r>
            <a:r>
              <a:rPr lang="en-US" sz="2000" noProof="0" dirty="0"/>
              <a:t> text embeddings shift a lot based on phrasing in CLIP-like models.</a:t>
            </a:r>
          </a:p>
          <a:p>
            <a:pPr marL="0" indent="0">
              <a:buNone/>
            </a:pPr>
            <a:r>
              <a:rPr lang="en-US" sz="2000" b="1" noProof="0" dirty="0"/>
              <a:t>How to measure:</a:t>
            </a:r>
            <a:r>
              <a:rPr lang="en-US" sz="2000" noProof="0" dirty="0"/>
              <a:t> LVIS Fixed AP / custom-vocab AP + false positives (see metrics below)</a:t>
            </a:r>
          </a:p>
          <a:p>
            <a:pPr marL="0" indent="0">
              <a:buNone/>
            </a:pPr>
            <a:endParaRPr lang="en-US" sz="2000" b="1" noProof="0" dirty="0"/>
          </a:p>
          <a:p>
            <a:pPr marL="0" indent="0">
              <a:buNone/>
            </a:pPr>
            <a:r>
              <a:rPr lang="en-US" sz="2000" b="1" noProof="0" dirty="0"/>
              <a:t>A2) Vocabulary design: reduce confusion</a:t>
            </a:r>
            <a:br>
              <a:rPr lang="en-US" sz="2000" noProof="0" dirty="0"/>
            </a:br>
            <a:r>
              <a:rPr lang="en-US" sz="2000" noProof="0" dirty="0"/>
              <a:t>If you include very similar terms, you increase misclassification:</a:t>
            </a:r>
          </a:p>
          <a:p>
            <a:pPr marL="0" indent="0">
              <a:buNone/>
            </a:pPr>
            <a:r>
              <a:rPr lang="en-US" sz="2100" noProof="0" dirty="0"/>
              <a:t>["dog", "puppy", "golden dog"] </a:t>
            </a:r>
            <a:r>
              <a:rPr lang="en-US" sz="2000" noProof="0" dirty="0"/>
              <a:t>might steal matches from each other.</a:t>
            </a:r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796597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33BE67-0EA9-46DC-7BBB-C4EB6EC2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YOLO-World-S: 7.9M params</a:t>
            </a:r>
          </a:p>
          <a:p>
            <a:r>
              <a:rPr lang="en-US" noProof="0" dirty="0"/>
              <a:t>YOLO-World-M: 20.1M params</a:t>
            </a:r>
          </a:p>
          <a:p>
            <a:r>
              <a:rPr lang="en-US" b="1" noProof="0" dirty="0"/>
              <a:t>YOLO-World-L: 37.1M params</a:t>
            </a:r>
          </a:p>
          <a:p>
            <a:endParaRPr lang="en-US" b="1" noProof="0" dirty="0"/>
          </a:p>
          <a:p>
            <a:r>
              <a:rPr lang="en-US" b="1" noProof="0" dirty="0"/>
              <a:t>Evaluation dataset → COCO </a:t>
            </a:r>
            <a:r>
              <a:rPr lang="en-US" b="1" noProof="0" dirty="0" err="1"/>
              <a:t>val</a:t>
            </a:r>
            <a:r>
              <a:rPr lang="en-US" b="1" noProof="0" dirty="0"/>
              <a:t> 2017  (5000 images)</a:t>
            </a:r>
          </a:p>
          <a:p>
            <a:endParaRPr lang="en-US" b="1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7763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34A6FA-7B10-6340-6896-5B71FF60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25" y="1738601"/>
            <a:ext cx="9759950" cy="3380798"/>
          </a:xfrm>
          <a:prstGeom prst="rect">
            <a:avLst/>
          </a:prstGeom>
        </p:spPr>
      </p:pic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2B4FB3A8-9CBB-EAAE-D5CA-8B577AC5D40D}"/>
              </a:ext>
            </a:extLst>
          </p:cNvPr>
          <p:cNvSpPr txBox="1">
            <a:spLocks/>
          </p:cNvSpPr>
          <p:nvPr/>
        </p:nvSpPr>
        <p:spPr>
          <a:xfrm>
            <a:off x="838200" y="5458036"/>
            <a:ext cx="10515600" cy="511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/>
              <a:t>Evaluation Results of Base Model – Raw Labels</a:t>
            </a:r>
          </a:p>
        </p:txBody>
      </p:sp>
    </p:spTree>
    <p:extLst>
      <p:ext uri="{BB962C8B-B14F-4D97-AF65-F5344CB8AC3E}">
        <p14:creationId xmlns:p14="http://schemas.microsoft.com/office/powerpoint/2010/main" val="596464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1745329-1DAB-A025-C1CA-3369D40572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1" b="1"/>
          <a:stretch>
            <a:fillRect/>
          </a:stretch>
        </p:blipFill>
        <p:spPr>
          <a:xfrm>
            <a:off x="1162051" y="1762835"/>
            <a:ext cx="9874250" cy="3330188"/>
          </a:xfrm>
          <a:prstGeom prst="rect">
            <a:avLst/>
          </a:prstGeom>
        </p:spPr>
      </p:pic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27427E8F-43FB-986A-35DF-0956F005C6E2}"/>
              </a:ext>
            </a:extLst>
          </p:cNvPr>
          <p:cNvSpPr txBox="1">
            <a:spLocks/>
          </p:cNvSpPr>
          <p:nvPr/>
        </p:nvSpPr>
        <p:spPr>
          <a:xfrm>
            <a:off x="838200" y="5458036"/>
            <a:ext cx="10515600" cy="511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/>
              <a:t>Evaluation Results of Using Descriptive Class Labels</a:t>
            </a:r>
          </a:p>
        </p:txBody>
      </p:sp>
    </p:spTree>
    <p:extLst>
      <p:ext uri="{BB962C8B-B14F-4D97-AF65-F5344CB8AC3E}">
        <p14:creationId xmlns:p14="http://schemas.microsoft.com/office/powerpoint/2010/main" val="980160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34C2445-2244-C5D6-E37D-1BABF4091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79" y="2034285"/>
            <a:ext cx="10060242" cy="2789430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6ECA72-42D0-4BAF-37B1-DD7668AB0D3A}"/>
              </a:ext>
            </a:extLst>
          </p:cNvPr>
          <p:cNvSpPr txBox="1">
            <a:spLocks/>
          </p:cNvSpPr>
          <p:nvPr/>
        </p:nvSpPr>
        <p:spPr>
          <a:xfrm>
            <a:off x="838200" y="5458036"/>
            <a:ext cx="10515600" cy="511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/>
              <a:t>Comparison Table Between Raw and Descriptive Class Labels</a:t>
            </a:r>
          </a:p>
        </p:txBody>
      </p:sp>
    </p:spTree>
    <p:extLst>
      <p:ext uri="{BB962C8B-B14F-4D97-AF65-F5344CB8AC3E}">
        <p14:creationId xmlns:p14="http://schemas.microsoft.com/office/powerpoint/2010/main" val="3032520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FC3998-19DE-B3BD-73F7-2D3ED422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Multi-prompt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8B1D9F-77DA-6E34-DA46-F894E9ABC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For every class create 3 similar prompts and take their mean.</a:t>
            </a:r>
          </a:p>
          <a:p>
            <a:r>
              <a:rPr lang="en-US" noProof="0" dirty="0"/>
              <a:t>Texts = [[p1,p2,p3], [p1,p2,p3], …]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Encode all prompts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Normalize every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For every category take the mean of the embeddings to produce singular representation.</a:t>
            </a:r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Still working on it...</a:t>
            </a:r>
          </a:p>
        </p:txBody>
      </p:sp>
    </p:spTree>
    <p:extLst>
      <p:ext uri="{BB962C8B-B14F-4D97-AF65-F5344CB8AC3E}">
        <p14:creationId xmlns:p14="http://schemas.microsoft.com/office/powerpoint/2010/main" val="536103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dış mekan, taşımak, nakletmek, taşıt, araç, otobüs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3094FA9-7AEF-329C-8C8E-B63C0DDE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98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5809FB-62FF-44AA-3AB1-0E2FADDB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noProof="0" dirty="0"/>
              <a:t>Thank you </a:t>
            </a:r>
            <a:br>
              <a:rPr lang="tr-TR" sz="8000" noProof="0" dirty="0"/>
            </a:br>
            <a:r>
              <a:rPr lang="en-US" sz="8000" noProof="0" dirty="0"/>
              <a:t>for listening</a:t>
            </a:r>
          </a:p>
        </p:txBody>
      </p:sp>
    </p:spTree>
    <p:extLst>
      <p:ext uri="{BB962C8B-B14F-4D97-AF65-F5344CB8AC3E}">
        <p14:creationId xmlns:p14="http://schemas.microsoft.com/office/powerpoint/2010/main" val="927343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E27E16-46B6-EEA6-0EDD-9B8EFDDD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Encoder Comparison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973C0B-4317-3D25-1ADA-A2FE87878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BERT (frozen): 14.6 AP, 3.4 APᵣ </a:t>
            </a:r>
          </a:p>
          <a:p>
            <a:r>
              <a:rPr lang="en-US" noProof="0" dirty="0"/>
              <a:t>BERT (fine-tuned): 18.3 AP, 6.6 APᵣ </a:t>
            </a:r>
          </a:p>
          <a:p>
            <a:r>
              <a:rPr lang="en-US" noProof="0" dirty="0"/>
              <a:t>CLIP (frozen): 22.4 AP, 14.5 APᵣ </a:t>
            </a:r>
          </a:p>
          <a:p>
            <a:r>
              <a:rPr lang="en-US" noProof="0" dirty="0"/>
              <a:t>CLIP (fine-tuned): 19.3 AP (degrades - loses generalization) 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9781189"/>
      </p:ext>
    </p:extLst>
  </p:cSld>
  <p:clrMapOvr>
    <a:masterClrMapping/>
  </p:clrMapOvr>
</p:sld>
</file>

<file path=ppt/theme/theme1.xml><?xml version="1.0" encoding="utf-8"?>
<a:theme xmlns:a="http://schemas.openxmlformats.org/drawingml/2006/main" name="Manzara">
  <a:themeElements>
    <a:clrScheme name="Manzar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Manzar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nzar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TM03457515[[fn=Manzara]]</Template>
  <TotalTime>1458</TotalTime>
  <Words>2430</Words>
  <Application>Microsoft Office PowerPoint</Application>
  <PresentationFormat>Geniş ekran</PresentationFormat>
  <Paragraphs>280</Paragraphs>
  <Slides>30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30</vt:i4>
      </vt:variant>
    </vt:vector>
  </HeadingPairs>
  <TitlesOfParts>
    <vt:vector size="36" baseType="lpstr">
      <vt:lpstr>Aptos</vt:lpstr>
      <vt:lpstr>Arial</vt:lpstr>
      <vt:lpstr>Cambria Math</vt:lpstr>
      <vt:lpstr>Century Schoolbook</vt:lpstr>
      <vt:lpstr>Wingdings 2</vt:lpstr>
      <vt:lpstr>Manzara</vt:lpstr>
      <vt:lpstr>YOLO-World: Real-Time Open-Vocabulary Object Detection</vt:lpstr>
      <vt:lpstr>Core Problem </vt:lpstr>
      <vt:lpstr>Existing Open-Vocabulary Detectors</vt:lpstr>
      <vt:lpstr>PowerPoint Sunusu</vt:lpstr>
      <vt:lpstr>PowerPoint Sunusu</vt:lpstr>
      <vt:lpstr>Reformulating Detection as Region–Text Matching</vt:lpstr>
      <vt:lpstr>PowerPoint Sunusu</vt:lpstr>
      <vt:lpstr>1. YOLO Backbone</vt:lpstr>
      <vt:lpstr>2. Text Encoder (CLIP)</vt:lpstr>
      <vt:lpstr>3. RepVL-PAN (Vision–Language Fusion)</vt:lpstr>
      <vt:lpstr>3.1 Text-Guided CSP Layer  (Text → Image)</vt:lpstr>
      <vt:lpstr>3.2 Image-Pooling Attention  (Image → Text)</vt:lpstr>
      <vt:lpstr>Online vs. Offline Vocabulary</vt:lpstr>
      <vt:lpstr>PowerPoint Sunusu</vt:lpstr>
      <vt:lpstr>What is offline vocabulary?</vt:lpstr>
      <vt:lpstr>prompt-then-detect</vt:lpstr>
      <vt:lpstr>PowerPoint Sunusu</vt:lpstr>
      <vt:lpstr>Trade-off of offline vocabulary</vt:lpstr>
      <vt:lpstr>Training Details</vt:lpstr>
      <vt:lpstr>PowerPoint Sunusu</vt:lpstr>
      <vt:lpstr>Importance of Text Quality</vt:lpstr>
      <vt:lpstr>Prompt/vocabulary improvements</vt:lpstr>
      <vt:lpstr>PowerPoint Sunusu</vt:lpstr>
      <vt:lpstr>PowerPoint Sunusu</vt:lpstr>
      <vt:lpstr>PowerPoint Sunusu</vt:lpstr>
      <vt:lpstr>PowerPoint Sunusu</vt:lpstr>
      <vt:lpstr>Multi-prompt</vt:lpstr>
      <vt:lpstr>PowerPoint Sunusu</vt:lpstr>
      <vt:lpstr>Thank you  for listening</vt:lpstr>
      <vt:lpstr>Text Encoder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Rabia Şevval Aydın</dc:creator>
  <cp:lastModifiedBy>Rabia Şevval Aydın</cp:lastModifiedBy>
  <cp:revision>7</cp:revision>
  <dcterms:created xsi:type="dcterms:W3CDTF">2025-12-24T18:00:43Z</dcterms:created>
  <dcterms:modified xsi:type="dcterms:W3CDTF">2025-12-30T13:15:27Z</dcterms:modified>
</cp:coreProperties>
</file>